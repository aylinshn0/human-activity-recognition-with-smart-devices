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6" r:id="rId11"/>
    <p:sldId id="267" r:id="rId12"/>
    <p:sldId id="282" r:id="rId13"/>
    <p:sldId id="268" r:id="rId14"/>
    <p:sldId id="269" r:id="rId15"/>
    <p:sldId id="270" r:id="rId16"/>
    <p:sldId id="271" r:id="rId17"/>
    <p:sldId id="272" r:id="rId18"/>
    <p:sldId id="273" r:id="rId19"/>
    <p:sldId id="283" r:id="rId20"/>
    <p:sldId id="274" r:id="rId21"/>
    <p:sldId id="275" r:id="rId22"/>
    <p:sldId id="276" r:id="rId23"/>
    <p:sldId id="277" r:id="rId24"/>
    <p:sldId id="280" r:id="rId25"/>
    <p:sldId id="278" r:id="rId26"/>
    <p:sldId id="279" r:id="rId27"/>
    <p:sldId id="281" r:id="rId28"/>
    <p:sldId id="264" r:id="rId2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87" autoAdjust="0"/>
    <p:restoredTop sz="94660"/>
  </p:normalViewPr>
  <p:slideViewPr>
    <p:cSldViewPr snapToGrid="0">
      <p:cViewPr>
        <p:scale>
          <a:sx n="70" d="100"/>
          <a:sy n="70" d="100"/>
        </p:scale>
        <p:origin x="158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233A2A-1A8D-46DD-9128-22D6B67B4AF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C3A5F58-44B0-4444-8449-982F115BEC82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tr-TR" sz="1400" dirty="0"/>
            <a:t>Giyilebilir cihaz ve telefon sensörleri ile toplanan sensör veri ile yürüyüş, koşu, oturma, merdiven çıkma gibi fiziksel aktiviteleri (Human Activity </a:t>
          </a:r>
          <a:r>
            <a:rPr lang="tr-TR" sz="1400" dirty="0" err="1"/>
            <a:t>Recognization</a:t>
          </a:r>
          <a:r>
            <a:rPr lang="tr-TR" sz="1400" dirty="0"/>
            <a:t>) sınıflandırma</a:t>
          </a:r>
          <a:endParaRPr lang="en-US" sz="1400" dirty="0"/>
        </a:p>
      </dgm:t>
    </dgm:pt>
    <dgm:pt modelId="{BB680D44-E338-4F3F-84F7-F0EEB73A0121}" type="parTrans" cxnId="{F6F474EE-0854-49F4-92E5-C9C8BE508BE5}">
      <dgm:prSet/>
      <dgm:spPr/>
      <dgm:t>
        <a:bodyPr/>
        <a:lstStyle/>
        <a:p>
          <a:endParaRPr lang="en-US"/>
        </a:p>
      </dgm:t>
    </dgm:pt>
    <dgm:pt modelId="{242A21D2-ECF9-4CA3-8E74-EA5CFB2884F4}" type="sibTrans" cxnId="{F6F474EE-0854-49F4-92E5-C9C8BE508BE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58F4C15-FC34-4EAA-8C19-048023E004ED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tr-TR" sz="1400" dirty="0"/>
            <a:t>giyilebilir cihaz ve mobil cihazların ivmeölçer bazen de jiroskop verileri (X Y Z eksenlerindeki ivmeler)</a:t>
          </a:r>
          <a:endParaRPr lang="en-US" sz="1400" dirty="0"/>
        </a:p>
      </dgm:t>
    </dgm:pt>
    <dgm:pt modelId="{04B40886-9C0B-48F0-BDB6-031F2863429C}" type="parTrans" cxnId="{BF54E3B2-1BFD-4C66-ADBB-63A48703EB82}">
      <dgm:prSet/>
      <dgm:spPr/>
      <dgm:t>
        <a:bodyPr/>
        <a:lstStyle/>
        <a:p>
          <a:endParaRPr lang="en-US"/>
        </a:p>
      </dgm:t>
    </dgm:pt>
    <dgm:pt modelId="{F506565D-6BFB-4926-B010-C35F5B7C18C0}" type="sibTrans" cxnId="{BF54E3B2-1BFD-4C66-ADBB-63A48703EB82}">
      <dgm:prSet/>
      <dgm:spPr/>
      <dgm:t>
        <a:bodyPr/>
        <a:lstStyle/>
        <a:p>
          <a:endParaRPr lang="en-US"/>
        </a:p>
      </dgm:t>
    </dgm:pt>
    <dgm:pt modelId="{E4271A54-B048-4319-BFB1-714DD6A5A63D}" type="pres">
      <dgm:prSet presAssocID="{2E233A2A-1A8D-46DD-9128-22D6B67B4AF3}" presName="root" presStyleCnt="0">
        <dgm:presLayoutVars>
          <dgm:dir/>
          <dgm:resizeHandles val="exact"/>
        </dgm:presLayoutVars>
      </dgm:prSet>
      <dgm:spPr/>
    </dgm:pt>
    <dgm:pt modelId="{3D9A2639-1EE8-43A8-B547-E3F90214403B}" type="pres">
      <dgm:prSet presAssocID="{0C3A5F58-44B0-4444-8449-982F115BEC82}" presName="compNode" presStyleCnt="0"/>
      <dgm:spPr/>
    </dgm:pt>
    <dgm:pt modelId="{021C359D-C345-4918-97A7-B443DC87AC47}" type="pres">
      <dgm:prSet presAssocID="{0C3A5F58-44B0-4444-8449-982F115BEC82}" presName="iconBgRect" presStyleLbl="bgShp" presStyleIdx="0" presStyleCnt="2" custLinFactNeighborX="-1343" custLinFactNeighborY="2112"/>
      <dgm:spPr/>
    </dgm:pt>
    <dgm:pt modelId="{F2669C62-349C-43BB-9BC8-1854543B1F95}" type="pres">
      <dgm:prSet presAssocID="{0C3A5F58-44B0-4444-8449-982F115BEC8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Yürüyüş"/>
        </a:ext>
      </dgm:extLst>
    </dgm:pt>
    <dgm:pt modelId="{7B3D21F8-2050-499F-BDBE-290636822F0C}" type="pres">
      <dgm:prSet presAssocID="{0C3A5F58-44B0-4444-8449-982F115BEC82}" presName="spaceRect" presStyleCnt="0"/>
      <dgm:spPr/>
    </dgm:pt>
    <dgm:pt modelId="{27B75DD8-812C-4018-82A3-D4CED1C55163}" type="pres">
      <dgm:prSet presAssocID="{0C3A5F58-44B0-4444-8449-982F115BEC82}" presName="textRect" presStyleLbl="revTx" presStyleIdx="0" presStyleCnt="2" custScaleX="119202" custScaleY="105990" custLinFactNeighborX="-851" custLinFactNeighborY="-38716">
        <dgm:presLayoutVars>
          <dgm:chMax val="1"/>
          <dgm:chPref val="1"/>
        </dgm:presLayoutVars>
      </dgm:prSet>
      <dgm:spPr/>
    </dgm:pt>
    <dgm:pt modelId="{365D5B56-6981-4EF8-8A3C-BC61F14C90B6}" type="pres">
      <dgm:prSet presAssocID="{242A21D2-ECF9-4CA3-8E74-EA5CFB2884F4}" presName="sibTrans" presStyleCnt="0"/>
      <dgm:spPr/>
    </dgm:pt>
    <dgm:pt modelId="{29E06801-B014-4294-A6A3-693B77854CBB}" type="pres">
      <dgm:prSet presAssocID="{F58F4C15-FC34-4EAA-8C19-048023E004ED}" presName="compNode" presStyleCnt="0"/>
      <dgm:spPr/>
    </dgm:pt>
    <dgm:pt modelId="{ECB6CDE6-3A9D-437E-987D-D2A2485DADE0}" type="pres">
      <dgm:prSet presAssocID="{F58F4C15-FC34-4EAA-8C19-048023E004ED}" presName="iconBgRect" presStyleLbl="bgShp" presStyleIdx="1" presStyleCnt="2"/>
      <dgm:spPr/>
    </dgm:pt>
    <dgm:pt modelId="{FC1B625D-5B7F-474C-BC08-67E6FD656216}" type="pres">
      <dgm:prSet presAssocID="{F58F4C15-FC34-4EAA-8C19-048023E004ED}" presName="iconRect" presStyleLbl="node1" presStyleIdx="1" presStyleCnt="2" custLinFactNeighborX="1827" custLinFactNeighborY="-2970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lefon Titreşimi düz dolguyla"/>
        </a:ext>
      </dgm:extLst>
    </dgm:pt>
    <dgm:pt modelId="{2578CFE3-12D3-479F-802D-FA97224C3886}" type="pres">
      <dgm:prSet presAssocID="{F58F4C15-FC34-4EAA-8C19-048023E004ED}" presName="spaceRect" presStyleCnt="0"/>
      <dgm:spPr/>
    </dgm:pt>
    <dgm:pt modelId="{E6C5056A-2578-4C5E-8079-4D5519B1501D}" type="pres">
      <dgm:prSet presAssocID="{F58F4C15-FC34-4EAA-8C19-048023E004ED}" presName="textRect" presStyleLbl="revTx" presStyleIdx="1" presStyleCnt="2" custLinFactNeighborX="-819" custLinFactNeighborY="-43070">
        <dgm:presLayoutVars>
          <dgm:chMax val="1"/>
          <dgm:chPref val="1"/>
        </dgm:presLayoutVars>
      </dgm:prSet>
      <dgm:spPr/>
    </dgm:pt>
  </dgm:ptLst>
  <dgm:cxnLst>
    <dgm:cxn modelId="{59148668-306F-4EEA-A9F0-66A980EF48BA}" type="presOf" srcId="{F58F4C15-FC34-4EAA-8C19-048023E004ED}" destId="{E6C5056A-2578-4C5E-8079-4D5519B1501D}" srcOrd="0" destOrd="0" presId="urn:microsoft.com/office/officeart/2018/5/layout/IconCircleLabelList"/>
    <dgm:cxn modelId="{01CAABAE-2BE4-40A0-918D-6ED11181BF67}" type="presOf" srcId="{0C3A5F58-44B0-4444-8449-982F115BEC82}" destId="{27B75DD8-812C-4018-82A3-D4CED1C55163}" srcOrd="0" destOrd="0" presId="urn:microsoft.com/office/officeart/2018/5/layout/IconCircleLabelList"/>
    <dgm:cxn modelId="{BF54E3B2-1BFD-4C66-ADBB-63A48703EB82}" srcId="{2E233A2A-1A8D-46DD-9128-22D6B67B4AF3}" destId="{F58F4C15-FC34-4EAA-8C19-048023E004ED}" srcOrd="1" destOrd="0" parTransId="{04B40886-9C0B-48F0-BDB6-031F2863429C}" sibTransId="{F506565D-6BFB-4926-B010-C35F5B7C18C0}"/>
    <dgm:cxn modelId="{5EE2B5D1-4BFB-4914-9EF8-02729D7A51F4}" type="presOf" srcId="{2E233A2A-1A8D-46DD-9128-22D6B67B4AF3}" destId="{E4271A54-B048-4319-BFB1-714DD6A5A63D}" srcOrd="0" destOrd="0" presId="urn:microsoft.com/office/officeart/2018/5/layout/IconCircleLabelList"/>
    <dgm:cxn modelId="{F6F474EE-0854-49F4-92E5-C9C8BE508BE5}" srcId="{2E233A2A-1A8D-46DD-9128-22D6B67B4AF3}" destId="{0C3A5F58-44B0-4444-8449-982F115BEC82}" srcOrd="0" destOrd="0" parTransId="{BB680D44-E338-4F3F-84F7-F0EEB73A0121}" sibTransId="{242A21D2-ECF9-4CA3-8E74-EA5CFB2884F4}"/>
    <dgm:cxn modelId="{7149288C-447A-4C95-BA85-EA6D37C6E542}" type="presParOf" srcId="{E4271A54-B048-4319-BFB1-714DD6A5A63D}" destId="{3D9A2639-1EE8-43A8-B547-E3F90214403B}" srcOrd="0" destOrd="0" presId="urn:microsoft.com/office/officeart/2018/5/layout/IconCircleLabelList"/>
    <dgm:cxn modelId="{3D7D5028-B6B3-4CCF-AC45-91878D0700A8}" type="presParOf" srcId="{3D9A2639-1EE8-43A8-B547-E3F90214403B}" destId="{021C359D-C345-4918-97A7-B443DC87AC47}" srcOrd="0" destOrd="0" presId="urn:microsoft.com/office/officeart/2018/5/layout/IconCircleLabelList"/>
    <dgm:cxn modelId="{C59AC29D-4886-481E-98BC-D5CA6D41C009}" type="presParOf" srcId="{3D9A2639-1EE8-43A8-B547-E3F90214403B}" destId="{F2669C62-349C-43BB-9BC8-1854543B1F95}" srcOrd="1" destOrd="0" presId="urn:microsoft.com/office/officeart/2018/5/layout/IconCircleLabelList"/>
    <dgm:cxn modelId="{B6E94DEB-5793-47C0-B2E3-31950F15C6D6}" type="presParOf" srcId="{3D9A2639-1EE8-43A8-B547-E3F90214403B}" destId="{7B3D21F8-2050-499F-BDBE-290636822F0C}" srcOrd="2" destOrd="0" presId="urn:microsoft.com/office/officeart/2018/5/layout/IconCircleLabelList"/>
    <dgm:cxn modelId="{6ECCBCCC-247D-4575-B713-2C467C5EBFA2}" type="presParOf" srcId="{3D9A2639-1EE8-43A8-B547-E3F90214403B}" destId="{27B75DD8-812C-4018-82A3-D4CED1C55163}" srcOrd="3" destOrd="0" presId="urn:microsoft.com/office/officeart/2018/5/layout/IconCircleLabelList"/>
    <dgm:cxn modelId="{11C071C4-14E9-40F7-8C9C-067012F11BDD}" type="presParOf" srcId="{E4271A54-B048-4319-BFB1-714DD6A5A63D}" destId="{365D5B56-6981-4EF8-8A3C-BC61F14C90B6}" srcOrd="1" destOrd="0" presId="urn:microsoft.com/office/officeart/2018/5/layout/IconCircleLabelList"/>
    <dgm:cxn modelId="{192F90B2-8CCE-4585-B567-B498461DF28B}" type="presParOf" srcId="{E4271A54-B048-4319-BFB1-714DD6A5A63D}" destId="{29E06801-B014-4294-A6A3-693B77854CBB}" srcOrd="2" destOrd="0" presId="urn:microsoft.com/office/officeart/2018/5/layout/IconCircleLabelList"/>
    <dgm:cxn modelId="{27E6723F-FE5F-447A-9FF1-6B667FC81683}" type="presParOf" srcId="{29E06801-B014-4294-A6A3-693B77854CBB}" destId="{ECB6CDE6-3A9D-437E-987D-D2A2485DADE0}" srcOrd="0" destOrd="0" presId="urn:microsoft.com/office/officeart/2018/5/layout/IconCircleLabelList"/>
    <dgm:cxn modelId="{A4851821-7103-446D-9571-2F5EFB0DE1B1}" type="presParOf" srcId="{29E06801-B014-4294-A6A3-693B77854CBB}" destId="{FC1B625D-5B7F-474C-BC08-67E6FD656216}" srcOrd="1" destOrd="0" presId="urn:microsoft.com/office/officeart/2018/5/layout/IconCircleLabelList"/>
    <dgm:cxn modelId="{F2CE4CCD-B12C-43CD-9EDA-904537E79ECA}" type="presParOf" srcId="{29E06801-B014-4294-A6A3-693B77854CBB}" destId="{2578CFE3-12D3-479F-802D-FA97224C3886}" srcOrd="2" destOrd="0" presId="urn:microsoft.com/office/officeart/2018/5/layout/IconCircleLabelList"/>
    <dgm:cxn modelId="{7C340402-73E1-4A08-ADA0-529999101BFC}" type="presParOf" srcId="{29E06801-B014-4294-A6A3-693B77854CBB}" destId="{E6C5056A-2578-4C5E-8079-4D5519B1501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1C359D-C345-4918-97A7-B443DC87AC47}">
      <dsp:nvSpPr>
        <dsp:cNvPr id="0" name=""/>
        <dsp:cNvSpPr/>
      </dsp:nvSpPr>
      <dsp:spPr>
        <a:xfrm>
          <a:off x="2015307" y="324940"/>
          <a:ext cx="2196000" cy="219393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69C62-349C-43BB-9BC8-1854543B1F95}">
      <dsp:nvSpPr>
        <dsp:cNvPr id="0" name=""/>
        <dsp:cNvSpPr/>
      </dsp:nvSpPr>
      <dsp:spPr>
        <a:xfrm>
          <a:off x="2512800" y="746163"/>
          <a:ext cx="1260000" cy="12588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75DD8-812C-4018-82A3-D4CED1C55163}">
      <dsp:nvSpPr>
        <dsp:cNvPr id="0" name=""/>
        <dsp:cNvSpPr/>
      </dsp:nvSpPr>
      <dsp:spPr>
        <a:xfrm>
          <a:off x="966528" y="2784589"/>
          <a:ext cx="4291272" cy="943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tr-TR" sz="1400" kern="1200" dirty="0"/>
            <a:t>Giyilebilir cihaz ve telefon sensörleri ile toplanan sensör veri ile yürüyüş, koşu, oturma, merdiven çıkma gibi fiziksel aktiviteleri (Human Activity </a:t>
          </a:r>
          <a:r>
            <a:rPr lang="tr-TR" sz="1400" kern="1200" dirty="0" err="1"/>
            <a:t>Recognization</a:t>
          </a:r>
          <a:r>
            <a:rPr lang="tr-TR" sz="1400" kern="1200" dirty="0"/>
            <a:t>) sınıflandırma</a:t>
          </a:r>
          <a:endParaRPr lang="en-US" sz="1400" kern="1200" dirty="0"/>
        </a:p>
      </dsp:txBody>
      <dsp:txXfrm>
        <a:off x="966528" y="2784589"/>
        <a:ext cx="4291272" cy="943501"/>
      </dsp:txXfrm>
    </dsp:sp>
    <dsp:sp modelId="{ECB6CDE6-3A9D-437E-987D-D2A2485DADE0}">
      <dsp:nvSpPr>
        <dsp:cNvPr id="0" name=""/>
        <dsp:cNvSpPr/>
      </dsp:nvSpPr>
      <dsp:spPr>
        <a:xfrm>
          <a:off x="6620436" y="290579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1B625D-5B7F-474C-BC08-67E6FD656216}">
      <dsp:nvSpPr>
        <dsp:cNvPr id="0" name=""/>
        <dsp:cNvSpPr/>
      </dsp:nvSpPr>
      <dsp:spPr>
        <a:xfrm>
          <a:off x="7111456" y="721157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C5056A-2578-4C5E-8079-4D5519B1501D}">
      <dsp:nvSpPr>
        <dsp:cNvPr id="0" name=""/>
        <dsp:cNvSpPr/>
      </dsp:nvSpPr>
      <dsp:spPr>
        <a:xfrm>
          <a:off x="5888952" y="2787178"/>
          <a:ext cx="3600000" cy="890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tr-TR" sz="1400" kern="1200" dirty="0"/>
            <a:t>giyilebilir cihaz ve mobil cihazların ivmeölçer bazen de jiroskop verileri (X Y Z eksenlerindeki ivmeler)</a:t>
          </a:r>
          <a:endParaRPr lang="en-US" sz="1400" kern="1200" dirty="0"/>
        </a:p>
      </dsp:txBody>
      <dsp:txXfrm>
        <a:off x="5888952" y="2787178"/>
        <a:ext cx="3600000" cy="8901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27T16:17:53.5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1,'2048'0,"-1798"14,-30-1,621-12,-403-2,-414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27T16:17:58.3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30,'1145'0,"-953"-14,2-1,-115 15,160 2,-131 11,14 0,244-13,51 1,-237 12,65 1,346-13,-267-2,-278 3,0 2,0 2,0 2,0 2,54 20,-78-24,0-1,0 0,0-2,1-1,34 0,-34-2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D15BF37-B316-D3A0-FA91-BB2B5691D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36ACF25-5D29-A4DB-01D4-2AE6CD911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BC4762E-A8AD-A719-1FC3-ED2E7C660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5114-984F-479B-8183-97271D3067EB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AFDE9EE-8B5D-FB40-5970-781471002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7C77DC9-0514-4CE9-E95A-6190EF05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8175-E2E9-4401-8AC6-7F97DF2F25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5736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C27EE69-0DA2-06CC-13A2-CE3B5B5B6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7EB5EAE-28C8-6B1E-5EAE-F2C1861BD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F8240A0-4D73-6E8F-6428-BB3789622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5114-984F-479B-8183-97271D3067EB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9D359DF-906B-F9FE-A6DF-648FF1CCF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5AE330A-425C-1CBE-1E7C-10357983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8175-E2E9-4401-8AC6-7F97DF2F25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95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872B10-1034-EB20-CD3E-00EC6214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C48AE36-FF88-ECC4-5FD7-B02A5CF31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805AE5E-7329-78D1-D847-5569A11FE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5114-984F-479B-8183-97271D3067EB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0305618-841C-FD6A-34C6-EAD40ABE1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F5EBFBF-6218-870F-1D63-7047B884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8175-E2E9-4401-8AC6-7F97DF2F25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6192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742A3A-9EED-E780-A78D-BE451319C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A24C669-7764-C83D-D86C-0F9284DEA2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0654965-1D13-4671-82D6-334F0D58C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B8BE870-ECB2-C7A2-95BA-5620293C0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5114-984F-479B-8183-97271D3067EB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20C117D-4F35-D22C-FA77-2933C5523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2EEB614-3BA9-1424-404A-135F56090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8175-E2E9-4401-8AC6-7F97DF2F25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8508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6496D15-188A-5BA1-9215-A202B6BDB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409C6CC-AEB0-1713-1AC5-86CF1EEB2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0A876F2-8EC1-CF85-E890-3D5CD786E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4189976D-B86A-655D-66B7-6D61E1ECE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423F8E7E-6FC3-1ECE-F562-D9CF288133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0EA6A875-7280-7C41-DDD3-1634605C8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5114-984F-479B-8183-97271D3067EB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F6E8E4EE-8A7D-4A71-8534-03001C1FB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CDB3003E-9B38-1213-021D-7468A471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8175-E2E9-4401-8AC6-7F97DF2F25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852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352934-F1B1-8360-06A2-77A10AE84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802981A1-6B8B-246B-5AF1-7272E5410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5114-984F-479B-8183-97271D3067EB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2F1E49BA-93E6-7930-33D6-310C2D5B0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DD1C2A31-8FD2-E6EC-EE90-97A68B128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8175-E2E9-4401-8AC6-7F97DF2F25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0961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45FA7D8A-E93E-4EF2-6803-A0FBF3897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5114-984F-479B-8183-97271D3067EB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AC95C3EC-F8A3-1F44-6FDC-6EE834653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B54EB8B-37BB-B746-D9E6-AB77B5E1D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8175-E2E9-4401-8AC6-7F97DF2F25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694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8318602-5690-42A9-1783-F5624323D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C558763-AC55-61E2-E52E-1CFBAD91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2CE5468-5242-BA54-204C-C9F4B7EDF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F5D0CFF-C6A0-4693-835B-4BF5E6163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5114-984F-479B-8183-97271D3067EB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28E4D6B-16B0-AB6D-1500-AC32CC75E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6152F42-71E7-F290-435A-84B012ED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8175-E2E9-4401-8AC6-7F97DF2F25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475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9D4EDAE-F5E0-832C-FE01-EBAB9885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90EFAF6-F8BC-D772-53D5-B55EA3577B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AB556A2-9350-EDDB-3532-A3611BA46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0D92B7C-6252-600C-897B-6A304BF37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5114-984F-479B-8183-97271D3067EB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D1C1CDB-126B-C915-F7A5-4254649D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034C963-928D-FF64-220D-B506CC142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8175-E2E9-4401-8AC6-7F97DF2F25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1082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244C674-055D-9023-1F93-081D9C65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96255BA-16B1-A26C-6E34-E9714389B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583D23B-8A7F-2FD8-15D3-FE6245B84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5114-984F-479B-8183-97271D3067EB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2CA89D-235C-C480-BD24-E90A0CFF4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BC96C89-EA99-B2CC-C99E-6286B61BC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8175-E2E9-4401-8AC6-7F97DF2F25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2012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4FD987C3-EC50-E27F-C033-39A76F2D9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03D39EC-B9E7-9ED3-685A-1435A0F77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4F589F5-F022-3419-1F2A-666C51ACD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5114-984F-479B-8183-97271D3067EB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9455EDB-BAAC-0DF5-347B-9E855CFA9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BE78A1F-2C9E-5DA9-84E9-44E6C4ED2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8175-E2E9-4401-8AC6-7F97DF2F25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9430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C0A18AB3-4C94-503D-31A2-1070ABD3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7F27DCF-A205-B9CC-99F7-1A78F33CE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7B68189-F07C-41C8-B05A-480675E7C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45114-984F-479B-8183-97271D3067EB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F0D9AC9-F01B-93A4-456C-309BA917C7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F30CD81-208B-0C3D-4155-79190569D8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A8175-E2E9-4401-8AC6-7F97DF2F25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6340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hyperlink" Target="https://www.kaggle.com/datasets/niloy333/kuhar/data" TargetMode="External"/><Relationship Id="rId7" Type="http://schemas.openxmlformats.org/officeDocument/2006/relationships/image" Target="../media/image14.png"/><Relationship Id="rId2" Type="http://schemas.openxmlformats.org/officeDocument/2006/relationships/hyperlink" Target="https://www.cis.fordham.edu/wisdm/dataset.php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abs/pii/S2210670721002560" TargetMode="External"/><Relationship Id="rId3" Type="http://schemas.openxmlformats.org/officeDocument/2006/relationships/hyperlink" Target="https://www.nature.com/articles/s41746-021-00514-4" TargetMode="External"/><Relationship Id="rId7" Type="http://schemas.openxmlformats.org/officeDocument/2006/relationships/hyperlink" Target="https://link.springer.com/article/10.1007/s10015-017-0422-x" TargetMode="External"/><Relationship Id="rId2" Type="http://schemas.openxmlformats.org/officeDocument/2006/relationships/hyperlink" Target="https://www.mdpi.com/1424-8220/19/14/321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abstract/document/7439743" TargetMode="External"/><Relationship Id="rId5" Type="http://schemas.openxmlformats.org/officeDocument/2006/relationships/hyperlink" Target="https://www.researchgate.net/profile/Ali-M-Muslim-2/publication/344409407_Human_Activity_Recognition_Using_Smartphone_and_Smartwatch/links/5c5d449da6fdccb608afb55c/Human-Activity-Recognition-Using-Smartphone-and-Smartwatch.pdf" TargetMode="External"/><Relationship Id="rId4" Type="http://schemas.openxmlformats.org/officeDocument/2006/relationships/hyperlink" Target="https://arxiv.org/abs/2402.1829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Meiryo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FE76F3D-F198-7DD2-1952-1926049C8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3398" y="3843248"/>
            <a:ext cx="9165204" cy="1501747"/>
          </a:xfrm>
        </p:spPr>
        <p:txBody>
          <a:bodyPr anchor="b">
            <a:normAutofit/>
          </a:bodyPr>
          <a:lstStyle/>
          <a:p>
            <a:r>
              <a:rPr lang="tr-TR" sz="5000"/>
              <a:t>Mobil Sensör Verileriyle Fiziksel Aktivite Tanıma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CC47EFB-7A83-3922-4C66-8B3AF3BDD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0676" y="5465928"/>
            <a:ext cx="7293259" cy="1308498"/>
          </a:xfrm>
        </p:spPr>
        <p:txBody>
          <a:bodyPr anchor="t">
            <a:noAutofit/>
          </a:bodyPr>
          <a:lstStyle/>
          <a:p>
            <a:r>
              <a:rPr lang="tr-TR" sz="2000" dirty="0"/>
              <a:t>Human-Activity-</a:t>
            </a:r>
            <a:r>
              <a:rPr lang="tr-TR" sz="2000" dirty="0" err="1"/>
              <a:t>Recognition</a:t>
            </a:r>
            <a:r>
              <a:rPr lang="tr-TR" sz="2000" dirty="0"/>
              <a:t>-</a:t>
            </a:r>
            <a:r>
              <a:rPr lang="tr-TR" sz="2000" dirty="0" err="1"/>
              <a:t>with</a:t>
            </a:r>
            <a:r>
              <a:rPr lang="tr-TR" sz="2000" dirty="0"/>
              <a:t>-Smart-</a:t>
            </a:r>
            <a:r>
              <a:rPr lang="tr-TR" sz="2000" dirty="0" err="1"/>
              <a:t>Devices</a:t>
            </a:r>
            <a:endParaRPr lang="tr-TR" sz="2000" dirty="0"/>
          </a:p>
          <a:p>
            <a:r>
              <a:rPr lang="tr-TR" sz="2000" dirty="0"/>
              <a:t>Aylin Şahin</a:t>
            </a:r>
          </a:p>
          <a:p>
            <a:r>
              <a:rPr lang="tr-TR" sz="2000" dirty="0"/>
              <a:t>221104088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41AAC8F-DDF5-413D-A80E-4FAF73EF5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2326" y="747423"/>
            <a:ext cx="2895134" cy="288272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03B749B-7C91-4A70-9318-82A4EA18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3161" y="626490"/>
            <a:ext cx="3172430" cy="3124592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Grafik 4" descr="Telefon Titreşimi düz dolguyla">
            <a:extLst>
              <a:ext uri="{FF2B5EF4-FFF2-40B4-BE49-F238E27FC236}">
                <a16:creationId xmlns:a16="http://schemas.microsoft.com/office/drawing/2014/main" id="{8327CEC4-5C66-9FFA-D288-0E43F6E3D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1182" y="1271807"/>
            <a:ext cx="1736387" cy="1736387"/>
          </a:xfrm>
          <a:prstGeom prst="rect">
            <a:avLst/>
          </a:pr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3444651-7CAB-437A-9DF1-EDE7DCF43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4603805" y="714748"/>
            <a:ext cx="3007787" cy="287201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BEB0D00-4F7A-41D8-B15E-B42145EA9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4509784" y="529721"/>
            <a:ext cx="3240543" cy="317257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Grafik 6" descr="İkili düz dolguyla">
            <a:extLst>
              <a:ext uri="{FF2B5EF4-FFF2-40B4-BE49-F238E27FC236}">
                <a16:creationId xmlns:a16="http://schemas.microsoft.com/office/drawing/2014/main" id="{5410FAB2-E11E-26D1-4768-68E0B53B4A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73602" y="1265638"/>
            <a:ext cx="1748725" cy="1748725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5086C2D-811D-44A2-BE86-D996EFB9A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48111" y="747422"/>
            <a:ext cx="2880347" cy="2839345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3B994DF-9058-47C6-98CE-DF3EF5084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86411" y="626490"/>
            <a:ext cx="3172430" cy="3124592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8" name="Grafik 17" descr="Yapay zeka düz dolguyla">
            <a:extLst>
              <a:ext uri="{FF2B5EF4-FFF2-40B4-BE49-F238E27FC236}">
                <a16:creationId xmlns:a16="http://schemas.microsoft.com/office/drawing/2014/main" id="{2BB2D57B-F0E9-5367-ADD9-4D23EB882C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96940" y="1272446"/>
            <a:ext cx="1755659" cy="175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6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45599A2-3CD9-3824-E4F0-3DBB63680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881"/>
            <a:ext cx="10515600" cy="1133693"/>
          </a:xfrm>
        </p:spPr>
        <p:txBody>
          <a:bodyPr>
            <a:normAutofit/>
          </a:bodyPr>
          <a:lstStyle/>
          <a:p>
            <a:r>
              <a:rPr lang="tr-TR" sz="5200" dirty="0"/>
              <a:t>TANIM</a:t>
            </a:r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BBFBF816-E2A2-009D-318C-43701A88FA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4184018"/>
              </p:ext>
            </p:extLst>
          </p:nvPr>
        </p:nvGraphicFramePr>
        <p:xfrm>
          <a:off x="838200" y="114458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689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C681DA6-0997-73A5-B91F-E97AC3A59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217" y="1789471"/>
            <a:ext cx="6250940" cy="24731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700" dirty="0">
                <a:hlinkClick r:id="rId2"/>
              </a:rPr>
              <a:t>https://www.cis.fordham.edu/wisdm/dataset.php</a:t>
            </a:r>
            <a:r>
              <a:rPr lang="tr-TR" sz="1700" dirty="0"/>
              <a:t> </a:t>
            </a:r>
            <a:endParaRPr lang="en-US" sz="1700" dirty="0"/>
          </a:p>
          <a:p>
            <a:pPr lvl="1"/>
            <a:r>
              <a:rPr lang="en-US" sz="1700" dirty="0"/>
              <a:t>Akıllı </a:t>
            </a:r>
            <a:r>
              <a:rPr lang="en-US" sz="1700" dirty="0" err="1"/>
              <a:t>telefon</a:t>
            </a:r>
            <a:r>
              <a:rPr lang="en-US" sz="1700" dirty="0"/>
              <a:t> </a:t>
            </a:r>
            <a:r>
              <a:rPr lang="en-US" sz="1700" dirty="0" err="1"/>
              <a:t>sensörleri</a:t>
            </a:r>
            <a:r>
              <a:rPr lang="en-US" sz="1700" dirty="0"/>
              <a:t> </a:t>
            </a:r>
            <a:r>
              <a:rPr lang="en-US" sz="1700" dirty="0" err="1"/>
              <a:t>ile</a:t>
            </a:r>
            <a:r>
              <a:rPr lang="en-US" sz="1700" dirty="0"/>
              <a:t> </a:t>
            </a:r>
            <a:r>
              <a:rPr lang="en-US" sz="1700" dirty="0" err="1"/>
              <a:t>toplanmış</a:t>
            </a:r>
            <a:r>
              <a:rPr lang="en-US" sz="1700" dirty="0"/>
              <a:t> </a:t>
            </a:r>
            <a:r>
              <a:rPr lang="en-US" sz="1700" dirty="0" err="1"/>
              <a:t>veriler</a:t>
            </a:r>
            <a:endParaRPr lang="en-US" sz="1700" dirty="0"/>
          </a:p>
          <a:p>
            <a:pPr lvl="1"/>
            <a:r>
              <a:rPr lang="en-US" sz="1700" dirty="0"/>
              <a:t>Ham </a:t>
            </a:r>
            <a:r>
              <a:rPr lang="en-US" sz="1700" dirty="0" err="1"/>
              <a:t>sensör</a:t>
            </a:r>
            <a:r>
              <a:rPr lang="en-US" sz="1700" dirty="0"/>
              <a:t> </a:t>
            </a:r>
            <a:r>
              <a:rPr lang="en-US" sz="1700" dirty="0" err="1"/>
              <a:t>verileri</a:t>
            </a:r>
            <a:r>
              <a:rPr lang="en-US" sz="1700" dirty="0"/>
              <a:t> (1 </a:t>
            </a:r>
            <a:r>
              <a:rPr lang="en-US" sz="1700" dirty="0" err="1"/>
              <a:t>milyondan</a:t>
            </a:r>
            <a:r>
              <a:rPr lang="en-US" sz="1700" dirty="0"/>
              <a:t> </a:t>
            </a:r>
            <a:r>
              <a:rPr lang="en-US" sz="1700" dirty="0" err="1"/>
              <a:t>fazla</a:t>
            </a:r>
            <a:r>
              <a:rPr lang="en-US" sz="1700" dirty="0"/>
              <a:t>)</a:t>
            </a:r>
          </a:p>
          <a:p>
            <a:pPr lvl="1"/>
            <a:r>
              <a:rPr lang="en-US" sz="1700" dirty="0"/>
              <a:t>6 </a:t>
            </a:r>
            <a:r>
              <a:rPr lang="en-US" sz="1700" dirty="0" err="1"/>
              <a:t>sınıflama</a:t>
            </a:r>
            <a:r>
              <a:rPr lang="en-US" sz="1700" dirty="0"/>
              <a:t> (</a:t>
            </a:r>
            <a:r>
              <a:rPr lang="en-US" sz="1700" dirty="0" err="1"/>
              <a:t>Yürüme</a:t>
            </a:r>
            <a:r>
              <a:rPr lang="en-US" sz="1700" dirty="0"/>
              <a:t>, </a:t>
            </a:r>
            <a:r>
              <a:rPr lang="en-US" sz="1700" dirty="0" err="1"/>
              <a:t>Koşma</a:t>
            </a:r>
            <a:r>
              <a:rPr lang="en-US" sz="1700" dirty="0"/>
              <a:t>, </a:t>
            </a:r>
            <a:r>
              <a:rPr lang="en-US" sz="1700" dirty="0" err="1"/>
              <a:t>Merdiven</a:t>
            </a:r>
            <a:r>
              <a:rPr lang="en-US" sz="1700" dirty="0"/>
              <a:t> </a:t>
            </a:r>
            <a:r>
              <a:rPr lang="en-US" sz="1700" dirty="0" err="1"/>
              <a:t>Çıkma</a:t>
            </a:r>
            <a:r>
              <a:rPr lang="en-US" sz="1700" dirty="0"/>
              <a:t>, </a:t>
            </a:r>
            <a:r>
              <a:rPr lang="en-US" sz="1700" dirty="0" err="1"/>
              <a:t>Merdiven</a:t>
            </a:r>
            <a:r>
              <a:rPr lang="en-US" sz="1700" dirty="0"/>
              <a:t> </a:t>
            </a:r>
            <a:r>
              <a:rPr lang="en-US" sz="1700" dirty="0" err="1"/>
              <a:t>İnme</a:t>
            </a:r>
            <a:r>
              <a:rPr lang="en-US" sz="1700" dirty="0"/>
              <a:t>, </a:t>
            </a:r>
            <a:r>
              <a:rPr lang="en-US" sz="1700" dirty="0" err="1"/>
              <a:t>Oturma</a:t>
            </a:r>
            <a:r>
              <a:rPr lang="en-US" sz="1700" dirty="0"/>
              <a:t>, </a:t>
            </a:r>
            <a:r>
              <a:rPr lang="en-US" sz="1700" dirty="0" err="1"/>
              <a:t>Ayakta</a:t>
            </a:r>
            <a:r>
              <a:rPr lang="en-US" sz="1700" dirty="0"/>
              <a:t> </a:t>
            </a:r>
            <a:r>
              <a:rPr lang="en-US" sz="1700" dirty="0" err="1"/>
              <a:t>Durma</a:t>
            </a:r>
            <a:r>
              <a:rPr lang="en-US" sz="1700" dirty="0"/>
              <a:t>)</a:t>
            </a:r>
          </a:p>
          <a:p>
            <a:pPr lvl="1"/>
            <a:r>
              <a:rPr lang="en-US" sz="1700" dirty="0"/>
              <a:t>1,098,207 </a:t>
            </a:r>
            <a:r>
              <a:rPr lang="en-US" sz="1700" dirty="0" err="1"/>
              <a:t>örnek</a:t>
            </a:r>
            <a:endParaRPr lang="en-US" sz="1700" dirty="0"/>
          </a:p>
          <a:p>
            <a:pPr lvl="1"/>
            <a:r>
              <a:rPr lang="en-US" sz="1700" dirty="0" err="1"/>
              <a:t>Öznitelik</a:t>
            </a:r>
            <a:r>
              <a:rPr lang="en-US" sz="1700" dirty="0"/>
              <a:t> </a:t>
            </a:r>
            <a:r>
              <a:rPr lang="en-US" sz="1700" dirty="0" err="1"/>
              <a:t>Sayısı</a:t>
            </a:r>
            <a:r>
              <a:rPr lang="en-US" sz="1700" dirty="0"/>
              <a:t>: 6 (</a:t>
            </a:r>
            <a:r>
              <a:rPr lang="en-US" sz="1700" dirty="0" err="1"/>
              <a:t>ivme</a:t>
            </a:r>
            <a:r>
              <a:rPr lang="en-US" sz="1700" dirty="0"/>
              <a:t> X, Y, Z + zaman </a:t>
            </a:r>
            <a:r>
              <a:rPr lang="en-US" sz="1700" dirty="0" err="1"/>
              <a:t>damgası</a:t>
            </a:r>
            <a:r>
              <a:rPr lang="en-US" sz="1700" dirty="0"/>
              <a:t> + </a:t>
            </a:r>
            <a:r>
              <a:rPr lang="en-US" sz="1700" dirty="0" err="1"/>
              <a:t>kullanıcı</a:t>
            </a:r>
            <a:r>
              <a:rPr lang="en-US" sz="1700" dirty="0"/>
              <a:t> ID + </a:t>
            </a:r>
            <a:r>
              <a:rPr lang="en-US" sz="1700" dirty="0" err="1"/>
              <a:t>aktivite</a:t>
            </a:r>
            <a:r>
              <a:rPr lang="en-US" sz="1700" dirty="0"/>
              <a:t> </a:t>
            </a:r>
            <a:r>
              <a:rPr lang="en-US" sz="1700" dirty="0" err="1"/>
              <a:t>etiketi</a:t>
            </a:r>
            <a:r>
              <a:rPr lang="en-US" sz="1700" dirty="0"/>
              <a:t>)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09E708FB-F4C9-0FED-D31A-9FF8B80F9EB2}"/>
              </a:ext>
            </a:extLst>
          </p:cNvPr>
          <p:cNvSpPr txBox="1"/>
          <p:nvPr/>
        </p:nvSpPr>
        <p:spPr>
          <a:xfrm>
            <a:off x="217217" y="4289869"/>
            <a:ext cx="6250940" cy="151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hlinkClick r:id="rId3"/>
              </a:rPr>
              <a:t>https://www.kaggle.com/datasets/niloy333/kuhar/data</a:t>
            </a:r>
            <a:r>
              <a:rPr lang="tr-TR" sz="1700" dirty="0"/>
              <a:t> </a:t>
            </a:r>
            <a:endParaRPr lang="en-US" sz="17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Akıllı </a:t>
            </a:r>
            <a:r>
              <a:rPr lang="en-US" sz="1700" dirty="0" err="1"/>
              <a:t>telefon</a:t>
            </a:r>
            <a:r>
              <a:rPr lang="en-US" sz="1700" dirty="0"/>
              <a:t> </a:t>
            </a:r>
            <a:r>
              <a:rPr lang="en-US" sz="1700" dirty="0" err="1"/>
              <a:t>sensörleri</a:t>
            </a:r>
            <a:r>
              <a:rPr lang="en-US" sz="1700" dirty="0"/>
              <a:t> (</a:t>
            </a:r>
            <a:r>
              <a:rPr lang="en-US" sz="1700" dirty="0" err="1"/>
              <a:t>ivmeölçer</a:t>
            </a:r>
            <a:r>
              <a:rPr lang="en-US" sz="1700" dirty="0"/>
              <a:t> </a:t>
            </a:r>
            <a:r>
              <a:rPr lang="en-US" sz="1700" dirty="0" err="1"/>
              <a:t>ve</a:t>
            </a:r>
            <a:r>
              <a:rPr lang="en-US" sz="1700" dirty="0"/>
              <a:t> </a:t>
            </a:r>
            <a:r>
              <a:rPr lang="en-US" sz="1700" dirty="0" err="1"/>
              <a:t>jiroskop</a:t>
            </a:r>
            <a:r>
              <a:rPr lang="en-US" sz="1700" dirty="0"/>
              <a:t>) </a:t>
            </a:r>
            <a:r>
              <a:rPr lang="en-US" sz="1700" dirty="0" err="1"/>
              <a:t>ile</a:t>
            </a:r>
            <a:r>
              <a:rPr lang="en-US" sz="1700" dirty="0"/>
              <a:t> </a:t>
            </a:r>
            <a:r>
              <a:rPr lang="en-US" sz="1700" dirty="0" err="1"/>
              <a:t>toplanmış</a:t>
            </a:r>
            <a:r>
              <a:rPr lang="en-US" sz="1700" dirty="0"/>
              <a:t> </a:t>
            </a:r>
            <a:r>
              <a:rPr lang="en-US" sz="1700" dirty="0" err="1"/>
              <a:t>veriler</a:t>
            </a:r>
            <a:r>
              <a:rPr lang="en-US" sz="1700" dirty="0"/>
              <a:t> </a:t>
            </a:r>
            <a:r>
              <a:rPr lang="en-US" sz="1700" dirty="0" err="1"/>
              <a:t>ve</a:t>
            </a:r>
            <a:r>
              <a:rPr lang="en-US" sz="1700" dirty="0"/>
              <a:t> 18 </a:t>
            </a:r>
            <a:r>
              <a:rPr lang="en-US" sz="1700" dirty="0" err="1"/>
              <a:t>farklı</a:t>
            </a:r>
            <a:r>
              <a:rPr lang="en-US" sz="1700" dirty="0"/>
              <a:t> </a:t>
            </a:r>
            <a:r>
              <a:rPr lang="en-US" sz="1700" dirty="0" err="1"/>
              <a:t>sınıflandırma</a:t>
            </a:r>
            <a:endParaRPr lang="en-US" sz="17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Segment </a:t>
            </a:r>
            <a:r>
              <a:rPr lang="en-US" sz="1700" dirty="0" err="1"/>
              <a:t>bazlı</a:t>
            </a:r>
            <a:r>
              <a:rPr lang="en-US" sz="1700" dirty="0"/>
              <a:t> CSV </a:t>
            </a:r>
            <a:r>
              <a:rPr lang="en-US" sz="1700" dirty="0" err="1"/>
              <a:t>dosyası</a:t>
            </a:r>
            <a:endParaRPr lang="en-US" sz="1700" dirty="0"/>
          </a:p>
        </p:txBody>
      </p:sp>
      <p:sp>
        <p:nvSpPr>
          <p:cNvPr id="5" name="Başlık 1">
            <a:extLst>
              <a:ext uri="{FF2B5EF4-FFF2-40B4-BE49-F238E27FC236}">
                <a16:creationId xmlns:a16="http://schemas.microsoft.com/office/drawing/2014/main" id="{546E0E2F-EC99-7488-59D2-507A54F38D80}"/>
              </a:ext>
            </a:extLst>
          </p:cNvPr>
          <p:cNvSpPr txBox="1">
            <a:spLocks/>
          </p:cNvSpPr>
          <p:nvPr/>
        </p:nvSpPr>
        <p:spPr>
          <a:xfrm>
            <a:off x="7886940" y="510103"/>
            <a:ext cx="2761396" cy="9068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800" dirty="0"/>
              <a:t>Metrikler: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E4C04242-BDE6-38EB-B678-56792CC9F240}"/>
              </a:ext>
            </a:extLst>
          </p:cNvPr>
          <p:cNvSpPr txBox="1"/>
          <p:nvPr/>
        </p:nvSpPr>
        <p:spPr>
          <a:xfrm>
            <a:off x="7670630" y="1789471"/>
            <a:ext cx="376953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700" dirty="0" err="1"/>
              <a:t>Accuracy</a:t>
            </a:r>
            <a:r>
              <a:rPr lang="tr-TR" sz="1700" dirty="0"/>
              <a:t> (doğruluk Oranı)</a:t>
            </a:r>
          </a:p>
          <a:p>
            <a:r>
              <a:rPr lang="tr-TR" sz="1700" dirty="0"/>
              <a:t>Precision (keskinlik)</a:t>
            </a:r>
          </a:p>
          <a:p>
            <a:r>
              <a:rPr lang="tr-TR" sz="1700" dirty="0" err="1"/>
              <a:t>Recall</a:t>
            </a:r>
            <a:r>
              <a:rPr lang="tr-TR" sz="1700" dirty="0"/>
              <a:t> (duyarlılık)</a:t>
            </a:r>
          </a:p>
          <a:p>
            <a:r>
              <a:rPr lang="tr-TR" sz="1700" dirty="0"/>
              <a:t>F1-Score</a:t>
            </a:r>
          </a:p>
          <a:p>
            <a:r>
              <a:rPr lang="tr-TR" sz="1700" dirty="0" err="1"/>
              <a:t>Confusion</a:t>
            </a:r>
            <a:r>
              <a:rPr lang="tr-TR" sz="1700" dirty="0"/>
              <a:t> </a:t>
            </a:r>
            <a:r>
              <a:rPr lang="tr-TR" sz="1700" dirty="0" err="1"/>
              <a:t>Matrix</a:t>
            </a:r>
            <a:endParaRPr lang="tr-TR" sz="1700" dirty="0"/>
          </a:p>
        </p:txBody>
      </p:sp>
      <p:sp>
        <p:nvSpPr>
          <p:cNvPr id="10" name="Başlık 9">
            <a:extLst>
              <a:ext uri="{FF2B5EF4-FFF2-40B4-BE49-F238E27FC236}">
                <a16:creationId xmlns:a16="http://schemas.microsoft.com/office/drawing/2014/main" id="{91142C8D-C932-8749-4E01-0FBFA0C68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838" y="628443"/>
            <a:ext cx="4107426" cy="906807"/>
          </a:xfrm>
        </p:spPr>
        <p:txBody>
          <a:bodyPr>
            <a:normAutofit/>
          </a:bodyPr>
          <a:lstStyle/>
          <a:p>
            <a:r>
              <a:rPr lang="tr-TR" sz="4800" dirty="0"/>
              <a:t>Veri setleri</a:t>
            </a:r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46E5FFF8-DE36-4A0B-8A67-089151D05D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55" t="7824" r="21837" b="10718"/>
          <a:stretch>
            <a:fillRect/>
          </a:stretch>
        </p:blipFill>
        <p:spPr>
          <a:xfrm>
            <a:off x="7670630" y="3647794"/>
            <a:ext cx="2824480" cy="2700103"/>
          </a:xfrm>
          <a:prstGeom prst="rect">
            <a:avLst/>
          </a:prstGeom>
        </p:spPr>
      </p:pic>
      <p:pic>
        <p:nvPicPr>
          <p:cNvPr id="35" name="Grafik 34" descr="Veri tabanı düz dolguyla">
            <a:extLst>
              <a:ext uri="{FF2B5EF4-FFF2-40B4-BE49-F238E27FC236}">
                <a16:creationId xmlns:a16="http://schemas.microsoft.com/office/drawing/2014/main" id="{92B16CDA-1FBB-1697-9C8D-E0497A2D1E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9438" y="510103"/>
            <a:ext cx="914400" cy="914400"/>
          </a:xfrm>
          <a:prstGeom prst="rect">
            <a:avLst/>
          </a:prstGeom>
        </p:spPr>
      </p:pic>
      <p:pic>
        <p:nvPicPr>
          <p:cNvPr id="37" name="Grafik 36" descr="Dağılım düz dolguyla">
            <a:extLst>
              <a:ext uri="{FF2B5EF4-FFF2-40B4-BE49-F238E27FC236}">
                <a16:creationId xmlns:a16="http://schemas.microsoft.com/office/drawing/2014/main" id="{59AD0AEE-26FE-BA9E-08BF-2D2210A46E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72540" y="51010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46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Başlık 4">
            <a:extLst>
              <a:ext uri="{FF2B5EF4-FFF2-40B4-BE49-F238E27FC236}">
                <a16:creationId xmlns:a16="http://schemas.microsoft.com/office/drawing/2014/main" id="{6A123AEF-7B41-9A64-503B-2660EEA85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867" y="1007001"/>
            <a:ext cx="6155988" cy="1182927"/>
          </a:xfrm>
        </p:spPr>
        <p:txBody>
          <a:bodyPr anchor="b">
            <a:normAutofit/>
          </a:bodyPr>
          <a:lstStyle/>
          <a:p>
            <a:r>
              <a:rPr lang="tr-TR" sz="5600"/>
              <a:t>Literatür taraması</a:t>
            </a:r>
            <a:endParaRPr lang="tr-TR" sz="56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İçerik Yer Tutucusu 13">
            <a:extLst>
              <a:ext uri="{FF2B5EF4-FFF2-40B4-BE49-F238E27FC236}">
                <a16:creationId xmlns:a16="http://schemas.microsoft.com/office/drawing/2014/main" id="{6A4AE3FB-AB02-234B-1968-99A0C4B65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9" y="2390458"/>
            <a:ext cx="7158124" cy="4078317"/>
          </a:xfrm>
        </p:spPr>
        <p:txBody>
          <a:bodyPr anchor="t">
            <a:noAutofit/>
          </a:bodyPr>
          <a:lstStyle/>
          <a:p>
            <a:r>
              <a:rPr lang="tr-TR" sz="2000">
                <a:solidFill>
                  <a:schemeClr val="tx1">
                    <a:alpha val="80000"/>
                  </a:schemeClr>
                </a:solidFill>
              </a:rPr>
              <a:t>Yüzeysel Öğrenme Algoritmaları:</a:t>
            </a:r>
          </a:p>
          <a:p>
            <a:pPr lvl="1"/>
            <a:r>
              <a:rPr lang="tr-TR" sz="2000">
                <a:solidFill>
                  <a:schemeClr val="tx1">
                    <a:alpha val="80000"/>
                  </a:schemeClr>
                </a:solidFill>
              </a:rPr>
              <a:t>SVM, KNN, Decision Trees, Naive Bayes, Perceptron</a:t>
            </a:r>
          </a:p>
          <a:p>
            <a:pPr lvl="1"/>
            <a:r>
              <a:rPr lang="tr-TR" sz="2000">
                <a:solidFill>
                  <a:schemeClr val="tx1">
                    <a:alpha val="80000"/>
                  </a:schemeClr>
                </a:solidFill>
              </a:rPr>
              <a:t>Özellik çıkarımı manuel yapılır.</a:t>
            </a:r>
          </a:p>
          <a:p>
            <a:r>
              <a:rPr lang="tr-TR" sz="2000">
                <a:solidFill>
                  <a:schemeClr val="tx1">
                    <a:alpha val="80000"/>
                  </a:schemeClr>
                </a:solidFill>
              </a:rPr>
              <a:t>Derin Öğrenme Algoritmaları:</a:t>
            </a:r>
          </a:p>
          <a:p>
            <a:pPr lvl="1"/>
            <a:r>
              <a:rPr lang="tr-TR" sz="2000">
                <a:solidFill>
                  <a:schemeClr val="tx1">
                    <a:alpha val="80000"/>
                  </a:schemeClr>
                </a:solidFill>
              </a:rPr>
              <a:t>CNN, RNN, RBM, SAE, DFN</a:t>
            </a:r>
          </a:p>
          <a:p>
            <a:pPr lvl="1"/>
            <a:r>
              <a:rPr lang="tr-TR" sz="2000">
                <a:solidFill>
                  <a:schemeClr val="tx1">
                    <a:alpha val="80000"/>
                  </a:schemeClr>
                </a:solidFill>
              </a:rPr>
              <a:t>Özellik çıkarımı otomatik olarak yapılır.</a:t>
            </a:r>
          </a:p>
          <a:p>
            <a:r>
              <a:rPr lang="tr-TR" sz="2000">
                <a:solidFill>
                  <a:schemeClr val="tx1">
                    <a:alpha val="80000"/>
                  </a:schemeClr>
                </a:solidFill>
              </a:rPr>
              <a:t>Veri Segmentasyonu</a:t>
            </a:r>
          </a:p>
          <a:p>
            <a:pPr lvl="1"/>
            <a:r>
              <a:rPr lang="tr-TR" sz="2000">
                <a:solidFill>
                  <a:schemeClr val="tx1">
                    <a:alpha val="80000"/>
                  </a:schemeClr>
                </a:solidFill>
              </a:rPr>
              <a:t>Veriler zaman pencerelerine (time-window) bölünür.</a:t>
            </a:r>
          </a:p>
          <a:p>
            <a:pPr lvl="1"/>
            <a:r>
              <a:rPr lang="tr-TR" sz="2000">
                <a:solidFill>
                  <a:schemeClr val="tx1">
                    <a:alpha val="80000"/>
                  </a:schemeClr>
                </a:solidFill>
              </a:rPr>
              <a:t>Önerilen Ayarlar:</a:t>
            </a:r>
          </a:p>
          <a:p>
            <a:pPr lvl="1"/>
            <a:r>
              <a:rPr lang="tr-TR" sz="2000">
                <a:solidFill>
                  <a:schemeClr val="tx1">
                    <a:alpha val="80000"/>
                  </a:schemeClr>
                </a:solidFill>
              </a:rPr>
              <a:t>Pencere süresi: 2–5 saniye</a:t>
            </a:r>
          </a:p>
          <a:p>
            <a:pPr lvl="1"/>
            <a:r>
              <a:rPr lang="tr-TR" sz="2000">
                <a:solidFill>
                  <a:schemeClr val="tx1">
                    <a:alpha val="80000"/>
                  </a:schemeClr>
                </a:solidFill>
              </a:rPr>
              <a:t>Frekans: 20–50 Hz</a:t>
            </a:r>
            <a:endParaRPr lang="tr-TR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3" name="Grafik 2" descr="Büyüteç düz dolguyla">
            <a:extLst>
              <a:ext uri="{FF2B5EF4-FFF2-40B4-BE49-F238E27FC236}">
                <a16:creationId xmlns:a16="http://schemas.microsoft.com/office/drawing/2014/main" id="{016D9E28-C640-3D86-EF83-083807B1B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2653" y="1980885"/>
            <a:ext cx="3548404" cy="3548404"/>
          </a:xfrm>
          <a:prstGeom prst="rect">
            <a:avLst/>
          </a:prstGeom>
        </p:spPr>
      </p:pic>
      <p:sp>
        <p:nvSpPr>
          <p:cNvPr id="3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54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919CFC-A5D0-CE6D-740D-C43D553E2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Başlık 4">
            <a:extLst>
              <a:ext uri="{FF2B5EF4-FFF2-40B4-BE49-F238E27FC236}">
                <a16:creationId xmlns:a16="http://schemas.microsoft.com/office/drawing/2014/main" id="{FBB5E6A0-2062-4965-D17E-1CB4F90A5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867" y="1007001"/>
            <a:ext cx="6155988" cy="1182927"/>
          </a:xfrm>
        </p:spPr>
        <p:txBody>
          <a:bodyPr anchor="b">
            <a:normAutofit/>
          </a:bodyPr>
          <a:lstStyle/>
          <a:p>
            <a:r>
              <a:rPr lang="tr-TR" sz="5600" dirty="0"/>
              <a:t>Literatür taraması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İçerik Yer Tutucusu 13">
            <a:extLst>
              <a:ext uri="{FF2B5EF4-FFF2-40B4-BE49-F238E27FC236}">
                <a16:creationId xmlns:a16="http://schemas.microsoft.com/office/drawing/2014/main" id="{AF4502C2-8E13-88C8-6F85-9A49D8026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2381331"/>
            <a:ext cx="6835056" cy="4285265"/>
          </a:xfrm>
        </p:spPr>
        <p:txBody>
          <a:bodyPr anchor="t">
            <a:noAutofit/>
          </a:bodyPr>
          <a:lstStyle/>
          <a:p>
            <a:r>
              <a:rPr lang="tr-TR" sz="1800" dirty="0">
                <a:solidFill>
                  <a:schemeClr val="tx1">
                    <a:alpha val="80000"/>
                  </a:schemeClr>
                </a:solidFill>
              </a:rPr>
              <a:t>Özellik Çıkarımı (</a:t>
            </a:r>
            <a:r>
              <a:rPr lang="tr-TR" sz="1800" dirty="0" err="1">
                <a:solidFill>
                  <a:schemeClr val="tx1">
                    <a:alpha val="80000"/>
                  </a:schemeClr>
                </a:solidFill>
              </a:rPr>
              <a:t>Feature</a:t>
            </a:r>
            <a:r>
              <a:rPr lang="tr-TR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tr-TR" sz="1800" dirty="0" err="1">
                <a:solidFill>
                  <a:schemeClr val="tx1">
                    <a:alpha val="80000"/>
                  </a:schemeClr>
                </a:solidFill>
              </a:rPr>
              <a:t>Extraction</a:t>
            </a:r>
            <a:r>
              <a:rPr lang="tr-TR" sz="1800" dirty="0">
                <a:solidFill>
                  <a:schemeClr val="tx1">
                    <a:alpha val="80000"/>
                  </a:schemeClr>
                </a:solidFill>
              </a:rPr>
              <a:t>)</a:t>
            </a:r>
          </a:p>
          <a:p>
            <a:pPr lvl="1"/>
            <a:r>
              <a:rPr lang="tr-TR" sz="1800" dirty="0">
                <a:solidFill>
                  <a:schemeClr val="tx1">
                    <a:alpha val="80000"/>
                  </a:schemeClr>
                </a:solidFill>
              </a:rPr>
              <a:t>Time Domain Özellikler:</a:t>
            </a:r>
          </a:p>
          <a:p>
            <a:pPr lvl="2"/>
            <a:r>
              <a:rPr lang="tr-TR" sz="1800" dirty="0">
                <a:solidFill>
                  <a:schemeClr val="tx1">
                    <a:alpha val="80000"/>
                  </a:schemeClr>
                </a:solidFill>
              </a:rPr>
              <a:t>Ortalama, maksimum, minimum, </a:t>
            </a:r>
            <a:r>
              <a:rPr lang="tr-TR" sz="1800" dirty="0" err="1">
                <a:solidFill>
                  <a:schemeClr val="tx1">
                    <a:alpha val="80000"/>
                  </a:schemeClr>
                </a:solidFill>
              </a:rPr>
              <a:t>std</a:t>
            </a:r>
            <a:r>
              <a:rPr lang="tr-TR" sz="1800" dirty="0">
                <a:solidFill>
                  <a:schemeClr val="tx1">
                    <a:alpha val="80000"/>
                  </a:schemeClr>
                </a:solidFill>
              </a:rPr>
              <a:t> sapma, ortanca vb.</a:t>
            </a:r>
          </a:p>
          <a:p>
            <a:pPr lvl="1"/>
            <a:r>
              <a:rPr lang="tr-TR" sz="1800" dirty="0" err="1">
                <a:solidFill>
                  <a:schemeClr val="tx1">
                    <a:alpha val="80000"/>
                  </a:schemeClr>
                </a:solidFill>
              </a:rPr>
              <a:t>Frequency</a:t>
            </a:r>
            <a:r>
              <a:rPr lang="tr-TR" sz="1800" dirty="0">
                <a:solidFill>
                  <a:schemeClr val="tx1">
                    <a:alpha val="80000"/>
                  </a:schemeClr>
                </a:solidFill>
              </a:rPr>
              <a:t> Domain Özellikler:</a:t>
            </a:r>
          </a:p>
          <a:p>
            <a:pPr lvl="2"/>
            <a:r>
              <a:rPr lang="tr-TR" sz="1800" dirty="0">
                <a:solidFill>
                  <a:schemeClr val="tx1">
                    <a:alpha val="80000"/>
                  </a:schemeClr>
                </a:solidFill>
              </a:rPr>
              <a:t>Periyodik örüntüler</a:t>
            </a:r>
          </a:p>
          <a:p>
            <a:pPr lvl="2"/>
            <a:r>
              <a:rPr lang="tr-TR" sz="1800" dirty="0">
                <a:solidFill>
                  <a:schemeClr val="tx1">
                    <a:alpha val="80000"/>
                  </a:schemeClr>
                </a:solidFill>
              </a:rPr>
              <a:t>Literatürde time domain daha yaygın ve etkili</a:t>
            </a:r>
          </a:p>
          <a:p>
            <a:r>
              <a:rPr lang="tr-TR" sz="1800" dirty="0">
                <a:solidFill>
                  <a:schemeClr val="tx1">
                    <a:alpha val="80000"/>
                  </a:schemeClr>
                </a:solidFill>
              </a:rPr>
              <a:t>Boyut Azaltma (</a:t>
            </a:r>
            <a:r>
              <a:rPr lang="tr-TR" sz="1800" dirty="0" err="1">
                <a:solidFill>
                  <a:schemeClr val="tx1">
                    <a:alpha val="80000"/>
                  </a:schemeClr>
                </a:solidFill>
              </a:rPr>
              <a:t>Dimensionality</a:t>
            </a:r>
            <a:r>
              <a:rPr lang="tr-TR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tr-TR" sz="1800" dirty="0" err="1">
                <a:solidFill>
                  <a:schemeClr val="tx1">
                    <a:alpha val="80000"/>
                  </a:schemeClr>
                </a:solidFill>
              </a:rPr>
              <a:t>Reduction</a:t>
            </a:r>
            <a:r>
              <a:rPr lang="tr-TR" sz="1800" dirty="0">
                <a:solidFill>
                  <a:schemeClr val="tx1">
                    <a:alpha val="80000"/>
                  </a:schemeClr>
                </a:solidFill>
              </a:rPr>
              <a:t>)</a:t>
            </a:r>
          </a:p>
          <a:p>
            <a:pPr lvl="1"/>
            <a:r>
              <a:rPr lang="tr-TR" sz="1800" dirty="0">
                <a:solidFill>
                  <a:schemeClr val="tx1">
                    <a:alpha val="80000"/>
                  </a:schemeClr>
                </a:solidFill>
              </a:rPr>
              <a:t>Kullanılan yöntemler: PCA, LDA, KDA </a:t>
            </a:r>
          </a:p>
          <a:p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Model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Eğitimi</a:t>
            </a:r>
            <a:r>
              <a:rPr lang="tr-TR" sz="1800" dirty="0">
                <a:solidFill>
                  <a:schemeClr val="tx1">
                    <a:alpha val="80000"/>
                  </a:schemeClr>
                </a:solidFill>
              </a:rPr>
              <a:t> -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Yöntemler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:</a:t>
            </a:r>
            <a:endParaRPr lang="tr-TR" sz="18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Cross-Validation (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en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yaygın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)</a:t>
            </a:r>
            <a:endParaRPr lang="tr-TR" sz="18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Leave-One-Subject-Out</a:t>
            </a:r>
            <a:endParaRPr lang="tr-TR" sz="18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%70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Eğitim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/ %30 Test</a:t>
            </a:r>
            <a:endParaRPr lang="tr-TR" sz="1800" dirty="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F2DAC4B4-1ED7-2294-6421-178B30F1F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653" y="1980885"/>
            <a:ext cx="3548404" cy="3548404"/>
          </a:xfrm>
          <a:prstGeom prst="rect">
            <a:avLst/>
          </a:prstGeom>
        </p:spPr>
      </p:pic>
      <p:sp>
        <p:nvSpPr>
          <p:cNvPr id="3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87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FE79F65-05BB-F4F0-6555-6C2B35E1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tr-TR" sz="4000"/>
              <a:t>YÖNTEM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1280BFC-F8FC-A21E-0CBD-AC14224D4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tr-TR" sz="1600"/>
              <a:t>Öznitelik Çıkarımı + Geleneksel Makine öğrenmesi</a:t>
            </a:r>
          </a:p>
          <a:p>
            <a:r>
              <a:rPr lang="tr-TR" sz="1600"/>
              <a:t>Eksik verilerin tamamlanması: Eğer eksik veri varsa veriler bir önceki ve bir sonraki değerlerin ortalaması ile tamamlanacak</a:t>
            </a:r>
          </a:p>
          <a:p>
            <a:r>
              <a:rPr lang="tr-TR" sz="1600"/>
              <a:t>Veri Segmentasyonu:  50hzde 3 saniyelik time windowlar ile çalışılmak istenmiştir. Ancak her veri seti kendine has Hz değeri ile toplandığı için her veri setinde kaç Hz ile veri toplanmışsa o değerde 3 saniyelik time windowlar kullanılması tercih edilmiştir. Aynı zamanda her veri setinde segmentasyon non-overlap olacak şekilde yapılmıştır.</a:t>
            </a:r>
          </a:p>
          <a:p>
            <a:r>
              <a:rPr lang="tr-TR" sz="1600"/>
              <a:t>Öznitelik çıkarımı: her time windowdan ortalama, min, max, standart sapma, median, rms, enerji, entropi, mad hesaplanacak</a:t>
            </a:r>
          </a:p>
          <a:p>
            <a:r>
              <a:rPr lang="tr-TR" sz="1600"/>
              <a:t>öznitelik çıkarımından sonra veriler boyut indirgemeden (pca) geçirilerek ve geçirilmeyerek modellere verilip karşılaştırma yapılacaktır</a:t>
            </a:r>
          </a:p>
          <a:p>
            <a:r>
              <a:rPr lang="tr-TR" sz="1600"/>
              <a:t>PCA uygulanmış verilerde hiperparametreler değiştirilerek farklı kombinasyonlar denenecektir.</a:t>
            </a:r>
          </a:p>
          <a:p>
            <a:r>
              <a:rPr lang="tr-TR" sz="1600"/>
              <a:t>Modeller: svm, RF, knn, xgboost, mlp, Naïve Bayes</a:t>
            </a:r>
          </a:p>
          <a:p>
            <a:endParaRPr lang="tr-TR" sz="1600"/>
          </a:p>
        </p:txBody>
      </p:sp>
    </p:spTree>
    <p:extLst>
      <p:ext uri="{BB962C8B-B14F-4D97-AF65-F5344CB8AC3E}">
        <p14:creationId xmlns:p14="http://schemas.microsoft.com/office/powerpoint/2010/main" val="3259618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DFF14B1-829E-3FDD-4842-B6D3BAC3A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tr-TR" dirty="0"/>
              <a:t>YÖNTEM 1 SONUÇLARI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F9F2247-1B7C-230A-8C5A-B1548A70A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75" y="1733476"/>
            <a:ext cx="184731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tr-TR" altLang="tr-T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</a:br>
            <a:endParaRPr kumimoji="0" lang="tr-TR" altLang="tr-TR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tr-TR" alt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E466E521-DABB-760E-D9C6-21ABFB2CDD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930551"/>
              </p:ext>
            </p:extLst>
          </p:nvPr>
        </p:nvGraphicFramePr>
        <p:xfrm>
          <a:off x="1170315" y="2233613"/>
          <a:ext cx="9842868" cy="4357525"/>
        </p:xfrm>
        <a:graphic>
          <a:graphicData uri="http://schemas.openxmlformats.org/drawingml/2006/table">
            <a:tbl>
              <a:tblPr firstRow="1" bandRow="1"/>
              <a:tblGrid>
                <a:gridCol w="2954742">
                  <a:extLst>
                    <a:ext uri="{9D8B030D-6E8A-4147-A177-3AD203B41FA5}">
                      <a16:colId xmlns:a16="http://schemas.microsoft.com/office/drawing/2014/main" val="2356139063"/>
                    </a:ext>
                  </a:extLst>
                </a:gridCol>
                <a:gridCol w="1291362">
                  <a:extLst>
                    <a:ext uri="{9D8B030D-6E8A-4147-A177-3AD203B41FA5}">
                      <a16:colId xmlns:a16="http://schemas.microsoft.com/office/drawing/2014/main" val="3297261417"/>
                    </a:ext>
                  </a:extLst>
                </a:gridCol>
                <a:gridCol w="2037272">
                  <a:extLst>
                    <a:ext uri="{9D8B030D-6E8A-4147-A177-3AD203B41FA5}">
                      <a16:colId xmlns:a16="http://schemas.microsoft.com/office/drawing/2014/main" val="3686195912"/>
                    </a:ext>
                  </a:extLst>
                </a:gridCol>
                <a:gridCol w="3559492">
                  <a:extLst>
                    <a:ext uri="{9D8B030D-6E8A-4147-A177-3AD203B41FA5}">
                      <a16:colId xmlns:a16="http://schemas.microsoft.com/office/drawing/2014/main" val="1913641408"/>
                    </a:ext>
                  </a:extLst>
                </a:gridCol>
              </a:tblGrid>
              <a:tr h="729541">
                <a:tc>
                  <a:txBody>
                    <a:bodyPr/>
                    <a:lstStyle/>
                    <a:p>
                      <a:pPr fontAlgn="t"/>
                      <a:br>
                        <a:rPr lang="tr-TR" sz="1900" dirty="0">
                          <a:effectLst/>
                        </a:rPr>
                      </a:b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tr-TR" sz="11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PCA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tr-TR" sz="1100" b="1" i="0" u="none" strike="noStrike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Accuracy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tr-TR" sz="11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Macro </a:t>
                      </a:r>
                      <a:r>
                        <a:rPr lang="tr-TR" sz="1100" b="1" i="0" u="none" strike="noStrike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Avg</a:t>
                      </a:r>
                      <a:r>
                        <a:rPr lang="tr-TR" sz="11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F1-Score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879500"/>
                  </a:ext>
                </a:extLst>
              </a:tr>
              <a:tr h="302332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SVM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yok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0.90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0.87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833427"/>
                  </a:ext>
                </a:extLst>
              </a:tr>
              <a:tr h="302332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Random Forest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yok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0.93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0.91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007540"/>
                  </a:ext>
                </a:extLst>
              </a:tr>
              <a:tr h="302332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KNN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yok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0.93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0.91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630408"/>
                  </a:ext>
                </a:extLst>
              </a:tr>
              <a:tr h="302332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XGBoost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yok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0.94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0.93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747289"/>
                  </a:ext>
                </a:extLst>
              </a:tr>
              <a:tr h="302332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MLP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yok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0.93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0.91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193112"/>
                  </a:ext>
                </a:extLst>
              </a:tr>
              <a:tr h="302332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Naive Bayes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yok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0.72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0.71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107585"/>
                  </a:ext>
                </a:extLst>
              </a:tr>
              <a:tr h="302332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SVM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var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0.87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0.83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146263"/>
                  </a:ext>
                </a:extLst>
              </a:tr>
              <a:tr h="302332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Random Forest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var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0.79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0.76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587748"/>
                  </a:ext>
                </a:extLst>
              </a:tr>
              <a:tr h="302332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KNN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var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0.92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0.90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213677"/>
                  </a:ext>
                </a:extLst>
              </a:tr>
              <a:tr h="302332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XGBoost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var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0.78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0.75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061855"/>
                  </a:ext>
                </a:extLst>
              </a:tr>
              <a:tr h="302332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MLP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var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0.91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0.89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55599"/>
                  </a:ext>
                </a:extLst>
              </a:tr>
              <a:tr h="302332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Naive Bayes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var</a:t>
                      </a:r>
                      <a:endParaRPr lang="tr-TR" sz="190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0.68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0.57</a:t>
                      </a:r>
                      <a:endParaRPr lang="tr-TR" sz="1900" dirty="0">
                        <a:effectLst/>
                      </a:endParaRPr>
                    </a:p>
                  </a:txBody>
                  <a:tcPr marL="73940" marR="73940" marT="49293" marB="49293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080421"/>
                  </a:ext>
                </a:extLst>
              </a:tr>
            </a:tbl>
          </a:graphicData>
        </a:graphic>
      </p:graphicFrame>
      <p:sp>
        <p:nvSpPr>
          <p:cNvPr id="6" name="Metin kutusu 5">
            <a:extLst>
              <a:ext uri="{FF2B5EF4-FFF2-40B4-BE49-F238E27FC236}">
                <a16:creationId xmlns:a16="http://schemas.microsoft.com/office/drawing/2014/main" id="{34DB3012-3D06-A997-7858-146C919A4DCD}"/>
              </a:ext>
            </a:extLst>
          </p:cNvPr>
          <p:cNvSpPr txBox="1"/>
          <p:nvPr/>
        </p:nvSpPr>
        <p:spPr>
          <a:xfrm>
            <a:off x="865953" y="1733476"/>
            <a:ext cx="5230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WISDM Veri seti için sonuçlar:</a:t>
            </a:r>
          </a:p>
        </p:txBody>
      </p:sp>
    </p:spTree>
    <p:extLst>
      <p:ext uri="{BB962C8B-B14F-4D97-AF65-F5344CB8AC3E}">
        <p14:creationId xmlns:p14="http://schemas.microsoft.com/office/powerpoint/2010/main" val="3440820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5E1E5F6-0A47-0104-5E79-5F29DF125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tr-TR" sz="5000"/>
              <a:t>YÖNTEM 1 SONUÇLARI</a:t>
            </a:r>
            <a:endParaRPr lang="tr-TR" sz="5000" dirty="0"/>
          </a:p>
        </p:txBody>
      </p:sp>
      <p:sp>
        <p:nvSpPr>
          <p:cNvPr id="103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9CC2CA5-7505-3E88-FD2A-5F5178492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5293614" cy="3893820"/>
          </a:xfrm>
        </p:spPr>
        <p:txBody>
          <a:bodyPr anchor="t">
            <a:normAutofit fontScale="92500" lnSpcReduction="10000"/>
          </a:bodyPr>
          <a:lstStyle/>
          <a:p>
            <a:r>
              <a:rPr lang="tr-TR" sz="2200" dirty="0"/>
              <a:t>en iyi sonuçları PCA olmadan </a:t>
            </a:r>
            <a:r>
              <a:rPr lang="tr-TR" sz="2200" dirty="0" err="1"/>
              <a:t>XGBoost</a:t>
            </a:r>
            <a:r>
              <a:rPr lang="tr-TR" sz="2200" dirty="0"/>
              <a:t> vermiştir (</a:t>
            </a:r>
            <a:r>
              <a:rPr lang="tr-TR" sz="2200" dirty="0" err="1"/>
              <a:t>accuracy</a:t>
            </a:r>
            <a:r>
              <a:rPr lang="tr-TR" sz="2200" dirty="0"/>
              <a:t>: 0.94, </a:t>
            </a:r>
            <a:r>
              <a:rPr lang="tr-TR" sz="2200" dirty="0" err="1"/>
              <a:t>macro</a:t>
            </a:r>
            <a:r>
              <a:rPr lang="tr-TR" sz="2200" dirty="0"/>
              <a:t> </a:t>
            </a:r>
            <a:r>
              <a:rPr lang="tr-TR" sz="2200" dirty="0" err="1"/>
              <a:t>avg</a:t>
            </a:r>
            <a:r>
              <a:rPr lang="tr-TR" sz="2200" dirty="0"/>
              <a:t> f1 </a:t>
            </a:r>
            <a:r>
              <a:rPr lang="tr-TR" sz="2200" dirty="0" err="1"/>
              <a:t>score</a:t>
            </a:r>
            <a:r>
              <a:rPr lang="tr-TR" sz="2200" dirty="0"/>
              <a:t>: 0.93).</a:t>
            </a:r>
          </a:p>
          <a:p>
            <a:r>
              <a:rPr lang="tr-TR" sz="2200" dirty="0"/>
              <a:t>Bu modelden sonra en başarılı modeller ise </a:t>
            </a:r>
            <a:r>
              <a:rPr lang="tr-TR" sz="2200" dirty="0" err="1"/>
              <a:t>PCAsız</a:t>
            </a:r>
            <a:r>
              <a:rPr lang="tr-TR" sz="2200" dirty="0"/>
              <a:t> MLP ve </a:t>
            </a:r>
            <a:r>
              <a:rPr lang="tr-TR" sz="2200" dirty="0" err="1"/>
              <a:t>PCAsız</a:t>
            </a:r>
            <a:r>
              <a:rPr lang="tr-TR" sz="2200" dirty="0"/>
              <a:t> KNN olarak çıktı. MLP </a:t>
            </a:r>
          </a:p>
          <a:p>
            <a:r>
              <a:rPr lang="tr-TR" sz="2200" dirty="0"/>
              <a:t>En kötü sonuçları ise PCA fark etmeksizin </a:t>
            </a:r>
            <a:r>
              <a:rPr lang="tr-TR" sz="2200" dirty="0" err="1"/>
              <a:t>Naive</a:t>
            </a:r>
            <a:r>
              <a:rPr lang="tr-TR" sz="2200" dirty="0"/>
              <a:t> </a:t>
            </a:r>
            <a:r>
              <a:rPr lang="tr-TR" sz="2200" dirty="0" err="1"/>
              <a:t>Bayes</a:t>
            </a:r>
            <a:r>
              <a:rPr lang="tr-TR" sz="2200" dirty="0"/>
              <a:t> verdi (</a:t>
            </a:r>
            <a:r>
              <a:rPr lang="tr-TR" sz="2200" dirty="0" err="1"/>
              <a:t>PCAsız</a:t>
            </a:r>
            <a:r>
              <a:rPr lang="tr-TR" sz="2200" dirty="0"/>
              <a:t> </a:t>
            </a:r>
            <a:r>
              <a:rPr lang="tr-TR" sz="2200" dirty="0" err="1"/>
              <a:t>Accuracy</a:t>
            </a:r>
            <a:r>
              <a:rPr lang="tr-TR" sz="2200" dirty="0"/>
              <a:t>: 0.72 ve </a:t>
            </a:r>
            <a:r>
              <a:rPr lang="tr-TR" sz="2200" dirty="0" err="1"/>
              <a:t>macro</a:t>
            </a:r>
            <a:r>
              <a:rPr lang="tr-TR" sz="2200" dirty="0"/>
              <a:t> </a:t>
            </a:r>
            <a:r>
              <a:rPr lang="tr-TR" sz="2200" dirty="0" err="1"/>
              <a:t>avg</a:t>
            </a:r>
            <a:r>
              <a:rPr lang="tr-TR" sz="2200" dirty="0"/>
              <a:t> f1:0.71, </a:t>
            </a:r>
            <a:r>
              <a:rPr lang="tr-TR" sz="2200" dirty="0" err="1"/>
              <a:t>PCAlı</a:t>
            </a:r>
            <a:r>
              <a:rPr lang="tr-TR" sz="2200" dirty="0"/>
              <a:t> </a:t>
            </a:r>
            <a:r>
              <a:rPr lang="tr-TR" sz="2200" dirty="0" err="1"/>
              <a:t>Accuracy</a:t>
            </a:r>
            <a:r>
              <a:rPr lang="tr-TR" sz="2200" dirty="0"/>
              <a:t>: 0.68 ve </a:t>
            </a:r>
            <a:r>
              <a:rPr lang="tr-TR" sz="2200" dirty="0" err="1"/>
              <a:t>macro</a:t>
            </a:r>
            <a:r>
              <a:rPr lang="tr-TR" sz="2200" dirty="0"/>
              <a:t> </a:t>
            </a:r>
            <a:r>
              <a:rPr lang="tr-TR" sz="2200" dirty="0" err="1"/>
              <a:t>avg</a:t>
            </a:r>
            <a:r>
              <a:rPr lang="tr-TR" sz="2200" dirty="0"/>
              <a:t> f1:0.57 ).</a:t>
            </a:r>
          </a:p>
          <a:p>
            <a:r>
              <a:rPr lang="tr-TR" sz="2200" dirty="0"/>
              <a:t>Genel olarak PCA uygulanınca modellerin performansı düşmüştür. PCA boyut azaltmasına rağmen bilgi kaybına sebep olmuş gibi duruyor. </a:t>
            </a:r>
          </a:p>
          <a:p>
            <a:endParaRPr lang="tr-TR" sz="2200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BC578B23-97CE-AF05-0805-742FBD886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725" y="141747"/>
            <a:ext cx="3898373" cy="3354138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84B14EE4-093A-D483-D13B-DDF2EBFCD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724" y="3495885"/>
            <a:ext cx="3898374" cy="335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50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45C3EDF-2B87-0C51-0ECC-D163DA4C6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4B8EC13-A4CB-854E-38C8-6F34421A2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8E0121F8-A737-C391-B178-6A1C631C5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008" y="555170"/>
            <a:ext cx="4786217" cy="2951927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242B7CBA-E457-049C-C4E8-FC0BE2F15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008" y="199941"/>
            <a:ext cx="2257740" cy="323895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20D9FA30-B35B-E9E8-7A30-09BEDD287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839" y="325876"/>
            <a:ext cx="4608154" cy="3181221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F3C6FC55-8C7C-145F-E93A-AA68CC596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197" y="3592313"/>
            <a:ext cx="4786218" cy="326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242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251455D-464E-CE14-120B-1C3D720A3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7788"/>
            <a:ext cx="4857750" cy="666251"/>
          </a:xfrm>
        </p:spPr>
        <p:txBody>
          <a:bodyPr>
            <a:normAutofit fontScale="90000"/>
          </a:bodyPr>
          <a:lstStyle/>
          <a:p>
            <a:r>
              <a:rPr lang="tr-TR"/>
              <a:t>PCA İLE SONUÇLAR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124C1B-D44F-E5C1-9DF1-E62A98268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F5A07140-FAB1-EC95-624F-A70821994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31" y="3673897"/>
            <a:ext cx="3530373" cy="3042870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4EF0E630-FB49-2688-328A-B2DAA24E4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266" y="1134757"/>
            <a:ext cx="4007302" cy="2539140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496A2531-A76B-D64C-0E62-012D30E95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266" y="722268"/>
            <a:ext cx="1848108" cy="285790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25D7858A-C843-95CA-D03E-45FF17C7C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397" y="722268"/>
            <a:ext cx="4090574" cy="2791299"/>
          </a:xfrm>
          <a:prstGeom prst="rect">
            <a:avLst/>
          </a:prstGeom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923CDB2D-CBD6-78D5-A59F-84DA1875CC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1152" y="3737342"/>
            <a:ext cx="3536598" cy="304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654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BB4C237-26AA-1D38-FBBB-F2BFFA4D4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HP OPTİMİZASYONU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2B40FB3-9611-B60B-ECD9-E275BF772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46747"/>
            <a:ext cx="10515600" cy="1911253"/>
          </a:xfrm>
        </p:spPr>
        <p:txBody>
          <a:bodyPr>
            <a:normAutofit fontScale="85000" lnSpcReduction="10000"/>
          </a:bodyPr>
          <a:lstStyle/>
          <a:p>
            <a:r>
              <a:rPr lang="tr-TR" dirty="0" err="1"/>
              <a:t>Veriseti</a:t>
            </a:r>
            <a:r>
              <a:rPr lang="tr-TR" dirty="0"/>
              <a:t> </a:t>
            </a:r>
            <a:r>
              <a:rPr lang="tr-TR" dirty="0" err="1"/>
              <a:t>pca</a:t>
            </a:r>
            <a:r>
              <a:rPr lang="tr-TR" dirty="0"/>
              <a:t> uygulanmış ve uygulanmamış olarak modellere verildikten sonra </a:t>
            </a:r>
            <a:r>
              <a:rPr lang="tr-TR" dirty="0" err="1"/>
              <a:t>hiperparametre</a:t>
            </a:r>
            <a:r>
              <a:rPr lang="tr-TR" dirty="0"/>
              <a:t> optimizasyonu ile sonuçların nasıl değişeceğine bakılmıştır.</a:t>
            </a:r>
          </a:p>
          <a:p>
            <a:r>
              <a:rPr lang="tr-TR" dirty="0" err="1"/>
              <a:t>Burda</a:t>
            </a:r>
            <a:r>
              <a:rPr lang="tr-TR" dirty="0"/>
              <a:t> </a:t>
            </a:r>
            <a:r>
              <a:rPr lang="tr-TR" dirty="0" err="1"/>
              <a:t>içiçe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looplar</a:t>
            </a:r>
            <a:r>
              <a:rPr lang="tr-TR" dirty="0"/>
              <a:t> ile her model için birkaç farklı </a:t>
            </a:r>
            <a:r>
              <a:rPr lang="tr-TR" dirty="0" err="1"/>
              <a:t>hp</a:t>
            </a:r>
            <a:r>
              <a:rPr lang="tr-TR" dirty="0"/>
              <a:t> denemeleri yapılmıştır</a:t>
            </a:r>
          </a:p>
          <a:p>
            <a:r>
              <a:rPr lang="tr-TR" dirty="0" err="1"/>
              <a:t>Svm</a:t>
            </a:r>
            <a:r>
              <a:rPr lang="tr-TR" dirty="0"/>
              <a:t> için </a:t>
            </a:r>
            <a:r>
              <a:rPr lang="tr-TR" dirty="0" err="1"/>
              <a:t>accuracy</a:t>
            </a:r>
            <a:r>
              <a:rPr lang="tr-TR" dirty="0"/>
              <a:t> artmıştır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BEC819F1-3998-956F-635A-A22BFBB12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60" y="1481014"/>
            <a:ext cx="3750521" cy="2454289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A62138E4-4D50-080E-B569-77F98BE25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28" y="4077745"/>
            <a:ext cx="3467584" cy="657317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DCDA3004-92E3-32A3-01DB-45F83131A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122" y="1462883"/>
            <a:ext cx="3865755" cy="2614862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D6F4AE5E-B773-0981-37EC-AF6798A11A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6470" y="4243612"/>
            <a:ext cx="3639058" cy="600159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E395B742-7F76-33B1-C0E4-051FB5F39F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4618" y="1481014"/>
            <a:ext cx="3750521" cy="2405994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EE50BF8B-4DC2-F503-7A45-76A85B3A6A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0455" y="4088219"/>
            <a:ext cx="2838846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88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1AEB1B-8EA1-64E7-97CB-B70247F47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HP OPTİMİZASYONU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C7B0473-1278-7A04-8640-96FD5124F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2479747-F9B2-FB19-FB27-E41EB69A9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25" y="1485650"/>
            <a:ext cx="5220429" cy="358190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14EF234F-B3C6-6A8C-1749-E57D87CF4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894" y="5202487"/>
            <a:ext cx="4048690" cy="533474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D91E190C-BB49-7260-591D-036EA2BE5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491" y="1457071"/>
            <a:ext cx="5344271" cy="3639058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89533C0B-879E-AAC9-0754-AC361DA116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584" y="5135802"/>
            <a:ext cx="4058216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710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CF81FAC-809E-3657-695A-00A9FBE31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310"/>
            <a:ext cx="10515600" cy="5960653"/>
          </a:xfrm>
        </p:spPr>
        <p:txBody>
          <a:bodyPr/>
          <a:lstStyle/>
          <a:p>
            <a:r>
              <a:rPr lang="tr-TR" dirty="0" err="1"/>
              <a:t>Kuhar</a:t>
            </a:r>
            <a:r>
              <a:rPr lang="tr-TR" dirty="0"/>
              <a:t> </a:t>
            </a:r>
            <a:r>
              <a:rPr lang="tr-TR" dirty="0" err="1"/>
              <a:t>veriseti</a:t>
            </a:r>
            <a:r>
              <a:rPr lang="tr-TR" dirty="0"/>
              <a:t> için sonuçlar:</a:t>
            </a:r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453CE316-606E-3FDC-0B75-8B67E234B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891119"/>
              </p:ext>
            </p:extLst>
          </p:nvPr>
        </p:nvGraphicFramePr>
        <p:xfrm>
          <a:off x="566723" y="1072227"/>
          <a:ext cx="11326792" cy="5466299"/>
        </p:xfrm>
        <a:graphic>
          <a:graphicData uri="http://schemas.openxmlformats.org/drawingml/2006/table">
            <a:tbl>
              <a:tblPr/>
              <a:tblGrid>
                <a:gridCol w="3591136">
                  <a:extLst>
                    <a:ext uri="{9D8B030D-6E8A-4147-A177-3AD203B41FA5}">
                      <a16:colId xmlns:a16="http://schemas.microsoft.com/office/drawing/2014/main" val="1360569770"/>
                    </a:ext>
                  </a:extLst>
                </a:gridCol>
                <a:gridCol w="2578552">
                  <a:extLst>
                    <a:ext uri="{9D8B030D-6E8A-4147-A177-3AD203B41FA5}">
                      <a16:colId xmlns:a16="http://schemas.microsoft.com/office/drawing/2014/main" val="3187856358"/>
                    </a:ext>
                  </a:extLst>
                </a:gridCol>
                <a:gridCol w="2578552">
                  <a:extLst>
                    <a:ext uri="{9D8B030D-6E8A-4147-A177-3AD203B41FA5}">
                      <a16:colId xmlns:a16="http://schemas.microsoft.com/office/drawing/2014/main" val="1251965016"/>
                    </a:ext>
                  </a:extLst>
                </a:gridCol>
                <a:gridCol w="2578552">
                  <a:extLst>
                    <a:ext uri="{9D8B030D-6E8A-4147-A177-3AD203B41FA5}">
                      <a16:colId xmlns:a16="http://schemas.microsoft.com/office/drawing/2014/main" val="1772155253"/>
                    </a:ext>
                  </a:extLst>
                </a:gridCol>
              </a:tblGrid>
              <a:tr h="981131">
                <a:tc>
                  <a:txBody>
                    <a:bodyPr/>
                    <a:lstStyle/>
                    <a:p>
                      <a:pPr fontAlgn="t"/>
                      <a:br>
                        <a:rPr lang="tr-TR">
                          <a:effectLst/>
                        </a:rPr>
                      </a:br>
                      <a:endParaRPr lang="tr-TR">
                        <a:effectLst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tr-T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PCA</a:t>
                      </a:r>
                      <a:endParaRPr lang="tr-TR" dirty="0">
                        <a:effectLst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tr-T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Accuracy</a:t>
                      </a:r>
                      <a:endParaRPr lang="tr-TR" dirty="0">
                        <a:effectLst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tr-T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Macro </a:t>
                      </a:r>
                      <a:r>
                        <a:rPr lang="tr-T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Avg</a:t>
                      </a:r>
                      <a:r>
                        <a:rPr lang="tr-T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F1-Score</a:t>
                      </a:r>
                      <a:endParaRPr lang="tr-TR" dirty="0">
                        <a:effectLst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749053"/>
                  </a:ext>
                </a:extLst>
              </a:tr>
              <a:tr h="37376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SVM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yok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0.3798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0.33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41860"/>
                  </a:ext>
                </a:extLst>
              </a:tr>
              <a:tr h="37376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Random Forest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yok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0.9443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0.94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792208"/>
                  </a:ext>
                </a:extLst>
              </a:tr>
              <a:tr h="37376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KNN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yok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0.3240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0.31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479212"/>
                  </a:ext>
                </a:extLst>
              </a:tr>
              <a:tr h="37376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XGBoost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yok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0.9582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0.95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685137"/>
                  </a:ext>
                </a:extLst>
              </a:tr>
              <a:tr h="37376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MLP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yok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0.6699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0.64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456094"/>
                  </a:ext>
                </a:extLst>
              </a:tr>
              <a:tr h="37376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Naive Bayes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yok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0.1092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0.03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854577"/>
                  </a:ext>
                </a:extLst>
              </a:tr>
              <a:tr h="37376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SVM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var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0.2752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0.20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356736"/>
                  </a:ext>
                </a:extLst>
              </a:tr>
              <a:tr h="37376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Random Forest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var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0.2676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0.27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29578"/>
                  </a:ext>
                </a:extLst>
              </a:tr>
              <a:tr h="37376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KNN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var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0.2182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0.20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87989"/>
                  </a:ext>
                </a:extLst>
              </a:tr>
              <a:tr h="37376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XGBoost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var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0.27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0.27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433773"/>
                  </a:ext>
                </a:extLst>
              </a:tr>
              <a:tr h="37376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MLP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var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0.5198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0.47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34179"/>
                  </a:ext>
                </a:extLst>
              </a:tr>
              <a:tr h="37376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Naive Bayes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>
                      <a:noFill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var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0.1092</a:t>
                      </a:r>
                      <a:endParaRPr lang="tr-T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tr-T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0.03</a:t>
                      </a:r>
                      <a:endParaRPr lang="tr-TR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D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38577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8DED971-6A77-5349-B996-302A2BECF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85" y="1072227"/>
            <a:ext cx="33212817" cy="695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2389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8" name="Rectangle 206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A85D6E8-EE0C-A07F-8F72-1BC02767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tr-TR" sz="5400" dirty="0" err="1"/>
              <a:t>Kuhar</a:t>
            </a:r>
            <a:r>
              <a:rPr lang="tr-TR" sz="5400" dirty="0"/>
              <a:t> </a:t>
            </a:r>
            <a:r>
              <a:rPr lang="tr-TR" sz="5400" dirty="0" err="1"/>
              <a:t>veriseti</a:t>
            </a:r>
            <a:r>
              <a:rPr lang="tr-TR" sz="5400" dirty="0"/>
              <a:t> için sonuçlar</a:t>
            </a:r>
          </a:p>
        </p:txBody>
      </p:sp>
      <p:sp>
        <p:nvSpPr>
          <p:cNvPr id="206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1A818F1-DF6F-C6B6-B136-1D3543952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tr-TR" sz="2200"/>
              <a:t>Aynı yöntem bu veri seti için de uygulanmıştır fakat bu veri seti için elde edilen sonuçlar genel olarak çok düşük çıkmıştır.</a:t>
            </a:r>
          </a:p>
          <a:p>
            <a:r>
              <a:rPr lang="tr-TR" sz="2200"/>
              <a:t>Burada en iyi sonuçları veren modeller PCAsız XGBoost ve PCAsız Random Forest olmuştur.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4B9317A-744C-CDA2-E824-4F8AF45CC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7" r="1" b="1"/>
          <a:stretch>
            <a:fillRect/>
          </a:stretch>
        </p:blipFill>
        <p:spPr bwMode="auto">
          <a:xfrm>
            <a:off x="5319252" y="10"/>
            <a:ext cx="6781459" cy="67609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Mürekkep 3">
                <a:extLst>
                  <a:ext uri="{FF2B5EF4-FFF2-40B4-BE49-F238E27FC236}">
                    <a16:creationId xmlns:a16="http://schemas.microsoft.com/office/drawing/2014/main" id="{0BD4F150-6E6C-56E0-3C05-C63244B85F5A}"/>
                  </a:ext>
                </a:extLst>
              </p14:cNvPr>
              <p14:cNvContentPartPr/>
              <p14:nvPr/>
            </p14:nvContentPartPr>
            <p14:xfrm>
              <a:off x="7885115" y="570108"/>
              <a:ext cx="1375920" cy="10800"/>
            </p14:xfrm>
          </p:contentPart>
        </mc:Choice>
        <mc:Fallback xmlns="">
          <p:pic>
            <p:nvPicPr>
              <p:cNvPr id="4" name="Mürekkep 3">
                <a:extLst>
                  <a:ext uri="{FF2B5EF4-FFF2-40B4-BE49-F238E27FC236}">
                    <a16:creationId xmlns:a16="http://schemas.microsoft.com/office/drawing/2014/main" id="{0BD4F150-6E6C-56E0-3C05-C63244B85F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31475" y="462468"/>
                <a:ext cx="1483560" cy="22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4878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8" name="Rectangle 308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1765C7C-B32C-1171-073F-58325E9E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tr-TR" sz="5400" dirty="0" err="1"/>
              <a:t>Kuhar</a:t>
            </a:r>
            <a:r>
              <a:rPr lang="tr-TR" sz="5400" dirty="0"/>
              <a:t> </a:t>
            </a:r>
            <a:r>
              <a:rPr lang="tr-TR" sz="5400" dirty="0" err="1"/>
              <a:t>veriseti</a:t>
            </a:r>
            <a:r>
              <a:rPr lang="tr-TR" sz="5400" dirty="0"/>
              <a:t> için sonuçlar</a:t>
            </a: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FA10968-1F03-FFD5-60B1-8CB406F90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tr-TR" sz="2200" dirty="0"/>
              <a:t>ilk </a:t>
            </a:r>
            <a:r>
              <a:rPr lang="tr-TR" sz="2200" dirty="0" err="1"/>
              <a:t>verisetinin</a:t>
            </a:r>
            <a:r>
              <a:rPr lang="tr-TR" sz="2200" dirty="0"/>
              <a:t> sınıf sayısının daha düşük olması daha iyi sonuç vermesin sağlarken diğer </a:t>
            </a:r>
            <a:r>
              <a:rPr lang="tr-TR" sz="2200" dirty="0" err="1"/>
              <a:t>verisetinin</a:t>
            </a:r>
            <a:r>
              <a:rPr lang="tr-TR" sz="2200" dirty="0"/>
              <a:t> sınıf sayısının daha çok olması modellerin başarısını etkilemiştir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802AAEE-1A2A-3933-40C8-BDBCE7CC3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7" r="1" b="1"/>
          <a:stretch>
            <a:fillRect/>
          </a:stretch>
        </p:blipFill>
        <p:spPr bwMode="auto">
          <a:xfrm>
            <a:off x="5311702" y="10"/>
            <a:ext cx="6878775" cy="68579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Mürekkep 3">
                <a:extLst>
                  <a:ext uri="{FF2B5EF4-FFF2-40B4-BE49-F238E27FC236}">
                    <a16:creationId xmlns:a16="http://schemas.microsoft.com/office/drawing/2014/main" id="{19D27F62-3FC6-3AAF-283D-FAC57C9D8EAE}"/>
                  </a:ext>
                </a:extLst>
              </p14:cNvPr>
              <p14:cNvContentPartPr/>
              <p14:nvPr/>
            </p14:nvContentPartPr>
            <p14:xfrm>
              <a:off x="7767395" y="549948"/>
              <a:ext cx="1700640" cy="50760"/>
            </p14:xfrm>
          </p:contentPart>
        </mc:Choice>
        <mc:Fallback xmlns="">
          <p:pic>
            <p:nvPicPr>
              <p:cNvPr id="4" name="Mürekkep 3">
                <a:extLst>
                  <a:ext uri="{FF2B5EF4-FFF2-40B4-BE49-F238E27FC236}">
                    <a16:creationId xmlns:a16="http://schemas.microsoft.com/office/drawing/2014/main" id="{19D27F62-3FC6-3AAF-283D-FAC57C9D8E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13395" y="442308"/>
                <a:ext cx="1808280" cy="26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9531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6BE6A8A-90CF-DB69-AB3D-7BA0C50C9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1C1CF6F-8E5A-91FA-AD96-913EB77E3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70B4E00-AC1D-BB44-0DDF-C04F13DD5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70" y="280548"/>
            <a:ext cx="5449060" cy="6296904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B8BBDA89-F93A-834A-7F86-C62CEFFEC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842" y="280548"/>
            <a:ext cx="5496692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80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29A1CC5-E2D8-B3E9-9D15-7456FA62B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226853B-61B4-E368-BB1B-A5779210D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7FC9FDBF-0F3F-83FB-4161-4D68C0A60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701"/>
            <a:ext cx="5563376" cy="6049219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D7647613-986A-4CB4-3CAB-EDD60C0EA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35" y="112878"/>
            <a:ext cx="3389358" cy="468055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4A1CF989-FDF1-1BC3-12C2-683EDCC93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3376" y="201723"/>
            <a:ext cx="6670245" cy="645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08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993E90E-597C-870F-480E-20F63D8B0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8" y="58102"/>
            <a:ext cx="10515600" cy="1013628"/>
          </a:xfrm>
        </p:spPr>
        <p:txBody>
          <a:bodyPr/>
          <a:lstStyle/>
          <a:p>
            <a:r>
              <a:rPr lang="tr-TR" dirty="0"/>
              <a:t>HP OPTİMİZASYONU</a:t>
            </a:r>
          </a:p>
        </p:txBody>
      </p:sp>
      <p:pic>
        <p:nvPicPr>
          <p:cNvPr id="15" name="İçerik Yer Tutucusu 14">
            <a:extLst>
              <a:ext uri="{FF2B5EF4-FFF2-40B4-BE49-F238E27FC236}">
                <a16:creationId xmlns:a16="http://schemas.microsoft.com/office/drawing/2014/main" id="{4BD4F824-C9B5-8239-0B6A-8E63A3A1B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42204" y="5783472"/>
            <a:ext cx="2715004" cy="638264"/>
          </a:xfr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AB6C4D63-82DD-9437-D84B-B383E2CAA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034" y="5843896"/>
            <a:ext cx="3477110" cy="590632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FF292845-3E15-777B-EF14-7C6756BD6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21" y="1209024"/>
            <a:ext cx="3763231" cy="4439952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E577A0FC-DB2B-AFCB-9405-FE62B1ACEB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35" y="5825241"/>
            <a:ext cx="4029805" cy="627942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19C08272-7A14-F282-FDA9-5B25529A9B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9955" y="1228510"/>
            <a:ext cx="3660777" cy="4439951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36B2508C-D057-CB08-BA4B-BD8B05A621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5314" y="1209024"/>
            <a:ext cx="3679006" cy="443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20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38F7C8B-3AAC-75A7-5FC7-3FF55690A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tr-TR"/>
              <a:t>HP OPTİMİZASYONU</a:t>
            </a:r>
            <a:endParaRPr lang="tr-TR" dirty="0"/>
          </a:p>
        </p:txBody>
      </p:sp>
      <p:pic>
        <p:nvPicPr>
          <p:cNvPr id="11" name="İçerik Yer Tutucusu 10">
            <a:extLst>
              <a:ext uri="{FF2B5EF4-FFF2-40B4-BE49-F238E27FC236}">
                <a16:creationId xmlns:a16="http://schemas.microsoft.com/office/drawing/2014/main" id="{03BC8563-FCD4-7050-57B8-0F9CDC2AD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92740" y="1064052"/>
            <a:ext cx="3991532" cy="4729892"/>
          </a:xfr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7395E017-BF99-314D-3602-F071B35C0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628" y="5988718"/>
            <a:ext cx="3991532" cy="571580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1FFC22E2-0842-1DDE-A404-297DBB70A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55" y="1064052"/>
            <a:ext cx="3991532" cy="4729966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BFFD0A12-5842-FA92-64F7-92F7FC161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85" y="5988718"/>
            <a:ext cx="3678285" cy="571580"/>
          </a:xfrm>
          <a:prstGeom prst="rect">
            <a:avLst/>
          </a:prstGeom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0E03C927-593B-B8FF-6C1E-D496E7983292}"/>
              </a:ext>
            </a:extLst>
          </p:cNvPr>
          <p:cNvSpPr txBox="1"/>
          <p:nvPr/>
        </p:nvSpPr>
        <p:spPr>
          <a:xfrm>
            <a:off x="8773886" y="1064052"/>
            <a:ext cx="312435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/>
              <a:t>HP optimizasyonu sonucu svm ve mlp sonuçları diğer 3 yönteme göre daha iyi sonuç vermiştir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/>
              <a:t>Svm daha önce %37 ve %27 değerlerini almışken şimdi ise %52ye çıkmıştır</a:t>
            </a:r>
          </a:p>
          <a:p>
            <a:endParaRPr lang="tr-TR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69230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3287BA3-8E6D-B041-BABE-EB531E30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tr-TR" sz="5200"/>
              <a:t>YÖNTEM 2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BF6792D-6FA1-8DD3-77B0-0000F79B6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tr-TR" sz="2000"/>
              <a:t>2. Yöntemde 1.yöntemdeki ile aynı şekilde veri segmentasyonu yapılacak ve öznitelik çıkarımı yapılmadan RNN e verilecek. </a:t>
            </a:r>
          </a:p>
          <a:p>
            <a:r>
              <a:rPr lang="tr-TR" sz="2000"/>
              <a:t>Daha sonra ilk yöntemden çıkarılan öznitelikler de eklenerek sonuçların iyileştirip iyileştirilmediğine bakılacaktır.</a:t>
            </a:r>
          </a:p>
          <a:p>
            <a:r>
              <a:rPr lang="tr-TR" sz="2000"/>
              <a:t>Geleneksel ML yöntemlerine kıyasla manuel öznitelik çıkarımı olmaması bu yöntemin en büyük avantajdır.</a:t>
            </a:r>
          </a:p>
          <a:p>
            <a:r>
              <a:rPr lang="tr-TR" sz="2000"/>
              <a:t>Beklenen performans %95 üzerindeydi fakat elde edilen sonuçlar böyle olmadı</a:t>
            </a:r>
          </a:p>
        </p:txBody>
      </p:sp>
    </p:spTree>
    <p:extLst>
      <p:ext uri="{BB962C8B-B14F-4D97-AF65-F5344CB8AC3E}">
        <p14:creationId xmlns:p14="http://schemas.microsoft.com/office/powerpoint/2010/main" val="1269059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956143D-67BB-A407-66E3-4D1CD808E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tr-TR" sz="3700" dirty="0"/>
              <a:t>YÖNTEM 2 SONUÇLARI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CC218A7-D5FF-AB34-E9F8-FC369CEF1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tr-TR" sz="2000" dirty="0" err="1"/>
              <a:t>Wisdm</a:t>
            </a:r>
            <a:r>
              <a:rPr lang="tr-TR" sz="2000" dirty="0"/>
              <a:t> </a:t>
            </a:r>
            <a:r>
              <a:rPr lang="tr-TR" sz="2000" dirty="0" err="1"/>
              <a:t>veriseti</a:t>
            </a:r>
            <a:r>
              <a:rPr lang="tr-TR" sz="2000" dirty="0"/>
              <a:t> için:</a:t>
            </a:r>
          </a:p>
          <a:p>
            <a:r>
              <a:rPr lang="tr-TR" sz="2000" dirty="0"/>
              <a:t>Yöntem 2 için ilk önce </a:t>
            </a:r>
            <a:r>
              <a:rPr lang="tr-TR" sz="2000" dirty="0" err="1"/>
              <a:t>simpleRNN</a:t>
            </a:r>
            <a:r>
              <a:rPr lang="tr-TR" sz="2000" dirty="0"/>
              <a:t> için </a:t>
            </a:r>
            <a:r>
              <a:rPr lang="tr-TR" sz="2000" dirty="0" err="1"/>
              <a:t>hiperparametre</a:t>
            </a:r>
            <a:r>
              <a:rPr lang="tr-TR" sz="2000" dirty="0"/>
              <a:t> optimizasyonu yapılmıştır.</a:t>
            </a:r>
          </a:p>
          <a:p>
            <a:r>
              <a:rPr lang="tr-TR" sz="2000" dirty="0"/>
              <a:t>Bu aşamada 2 araştırmadan yardım alınarak denenecek </a:t>
            </a:r>
            <a:r>
              <a:rPr lang="tr-TR" sz="2000" dirty="0" err="1"/>
              <a:t>hiperparametrelere</a:t>
            </a:r>
            <a:r>
              <a:rPr lang="tr-TR" sz="2000" dirty="0"/>
              <a:t> böyle karar verilmiştir. (kaynakça kısmına eklendi)</a:t>
            </a:r>
          </a:p>
          <a:p>
            <a:r>
              <a:rPr lang="tr-TR" sz="2000" dirty="0"/>
              <a:t>Burada ilk başta grid </a:t>
            </a:r>
            <a:r>
              <a:rPr lang="tr-TR" sz="2000" dirty="0" err="1"/>
              <a:t>search</a:t>
            </a:r>
            <a:r>
              <a:rPr lang="tr-TR" sz="2000" dirty="0"/>
              <a:t> ile bu işlem yapılmak istenmiştir fakat bu işlemin çok vakit almasından dolayı </a:t>
            </a:r>
            <a:r>
              <a:rPr lang="tr-TR" sz="2000" dirty="0" err="1"/>
              <a:t>random</a:t>
            </a:r>
            <a:r>
              <a:rPr lang="tr-TR" sz="2000" dirty="0"/>
              <a:t> </a:t>
            </a:r>
            <a:r>
              <a:rPr lang="tr-TR" sz="2000" dirty="0" err="1"/>
              <a:t>search</a:t>
            </a:r>
            <a:r>
              <a:rPr lang="tr-TR" sz="2000" dirty="0"/>
              <a:t> ile devam edilmiştir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5453040-EB3F-4B14-AA0C-A94603462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189" y="984372"/>
            <a:ext cx="5682574" cy="488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182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49CDD34-2411-240A-4593-1242FA280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tr-TR" sz="4000"/>
              <a:t>Wisdm veriseti için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51674FF-6FCE-69A6-D553-C2FA01F04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tr-TR" sz="2000"/>
              <a:t>Denenen parametreler:</a:t>
            </a:r>
          </a:p>
          <a:p>
            <a:r>
              <a:rPr lang="en-US" sz="2000"/>
              <a:t>param_choices = {</a:t>
            </a:r>
          </a:p>
          <a:p>
            <a:r>
              <a:rPr lang="en-US" sz="2000"/>
              <a:t>    'units': [30, 40, 60, 80],</a:t>
            </a:r>
          </a:p>
          <a:p>
            <a:r>
              <a:rPr lang="en-US" sz="2000"/>
              <a:t>    'dropout_rate': [0.3, 0.5, 0.7],   </a:t>
            </a:r>
          </a:p>
          <a:p>
            <a:r>
              <a:rPr lang="en-US" sz="2000"/>
              <a:t>    'batch_size': [32, 64]             </a:t>
            </a:r>
          </a:p>
          <a:p>
            <a:r>
              <a:rPr lang="en-US" sz="2000"/>
              <a:t>}</a:t>
            </a:r>
            <a:endParaRPr lang="tr-TR" sz="2000"/>
          </a:p>
          <a:p>
            <a:r>
              <a:rPr lang="tr-TR" sz="2000"/>
              <a:t>epochs=50</a:t>
            </a:r>
          </a:p>
          <a:p>
            <a:r>
              <a:rPr lang="tr-TR" sz="2000"/>
              <a:t>optimizer='adam’</a:t>
            </a:r>
          </a:p>
          <a:p>
            <a:r>
              <a:rPr lang="tr-TR" sz="2000"/>
              <a:t>loss='categorical_crossentropy’</a:t>
            </a:r>
          </a:p>
          <a:p>
            <a:r>
              <a:rPr lang="tr-TR" sz="2000"/>
              <a:t>İterasyon = 20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Resim 4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5579BAA-FD88-9309-7647-26372072E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423" y="721478"/>
            <a:ext cx="4397433" cy="223958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Resim 6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C35AA3A-DAEE-0E5B-A1DD-6FC88A562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423" y="3835413"/>
            <a:ext cx="4395569" cy="226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376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3E9684C-D607-BC4D-EE58-348525158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4495568"/>
            <a:ext cx="3861960" cy="1905232"/>
          </a:xfrm>
        </p:spPr>
        <p:txBody>
          <a:bodyPr anchor="ctr">
            <a:normAutofit/>
          </a:bodyPr>
          <a:lstStyle/>
          <a:p>
            <a:r>
              <a:rPr lang="tr-TR" sz="3200" dirty="0"/>
              <a:t>RNN + FEATURE SELECTİON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C3715BE3-17E1-53FC-DD84-992561F65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606" y="147936"/>
            <a:ext cx="4459942" cy="383555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C3D0F650-5DFC-B1BC-63C6-57DD312CD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264" y="658333"/>
            <a:ext cx="5136795" cy="283807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1E66744-6EEC-9063-4E79-E5A7EAADF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495568"/>
            <a:ext cx="6586915" cy="1905232"/>
          </a:xfrm>
        </p:spPr>
        <p:txBody>
          <a:bodyPr anchor="ctr">
            <a:normAutofit/>
          </a:bodyPr>
          <a:lstStyle/>
          <a:p>
            <a:r>
              <a:rPr lang="tr-TR" sz="1800"/>
              <a:t>Simple RNN için en iyi parametreler bulunduktan sonra bunlar kaydedilmiştir.</a:t>
            </a:r>
          </a:p>
          <a:p>
            <a:r>
              <a:rPr lang="tr-TR" sz="1800"/>
              <a:t>Ham veriye feature extraction ve selection yapılıp en önemli 15 özellik de ham veriye eklenerek en iyi parametreler ile yeniden rnn uygulanmıştır.</a:t>
            </a:r>
          </a:p>
        </p:txBody>
      </p:sp>
    </p:spTree>
    <p:extLst>
      <p:ext uri="{BB962C8B-B14F-4D97-AF65-F5344CB8AC3E}">
        <p14:creationId xmlns:p14="http://schemas.microsoft.com/office/powerpoint/2010/main" val="2174118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AC72E51-A24F-4ED8-D04C-10EEBF91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tr-TR" sz="5000"/>
              <a:t>KUHAR VERİ SETİ İÇİN 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2194D4E-9A4D-07FB-2F1C-5749077E5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291" y="1701177"/>
            <a:ext cx="4488826" cy="4879160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6C458EB-562D-CF2D-1B31-BE8A32DDD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r>
              <a:rPr lang="tr-TR" sz="2200" dirty="0"/>
              <a:t>Aynı yöntem bu </a:t>
            </a:r>
            <a:r>
              <a:rPr lang="tr-TR" sz="2200" dirty="0" err="1"/>
              <a:t>dataset</a:t>
            </a:r>
            <a:r>
              <a:rPr lang="tr-TR" sz="2200" dirty="0"/>
              <a:t> için de uygulanmıştır</a:t>
            </a:r>
          </a:p>
          <a:p>
            <a:r>
              <a:rPr lang="tr-TR" sz="2200" dirty="0"/>
              <a:t>Bu </a:t>
            </a:r>
            <a:r>
              <a:rPr lang="tr-TR" sz="2200" dirty="0" err="1"/>
              <a:t>veriseti</a:t>
            </a:r>
            <a:r>
              <a:rPr lang="tr-TR" sz="2200" dirty="0"/>
              <a:t> daha büyük olduğundan ve 6 özniteliğe sahip olduğundan seçilen öznitelik sayısı 24tür</a:t>
            </a:r>
          </a:p>
          <a:p>
            <a:r>
              <a:rPr lang="tr-TR" sz="2200" dirty="0" err="1"/>
              <a:t>Hiperparametre</a:t>
            </a:r>
            <a:r>
              <a:rPr lang="tr-TR" sz="2200" dirty="0"/>
              <a:t> </a:t>
            </a:r>
            <a:r>
              <a:rPr lang="tr-TR" sz="2200" dirty="0" err="1"/>
              <a:t>optimazsyonu</a:t>
            </a:r>
            <a:r>
              <a:rPr lang="tr-TR" sz="2200" dirty="0"/>
              <a:t> için denenen diğer değerler ise aynıdır</a:t>
            </a:r>
          </a:p>
          <a:p>
            <a:endParaRPr lang="tr-TR" sz="2200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023A445D-5F7F-4245-A561-D88E3776D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735" y="277663"/>
            <a:ext cx="2559938" cy="137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999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EEFB6C1E-5E5E-B796-55BA-16F4727B7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799" y="0"/>
            <a:ext cx="7162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448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6A5A31-B10A-4793-84D4-D785959AE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201" y="623275"/>
            <a:ext cx="5141626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3C192C2-4888-5057-E418-A7A2E5E29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833" y="1188637"/>
            <a:ext cx="4218138" cy="15972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600" kern="1200">
                <a:latin typeface="+mj-lt"/>
                <a:ea typeface="+mj-ea"/>
                <a:cs typeface="+mj-cs"/>
              </a:rPr>
              <a:t>RNN + FEATURE SELECTİON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AF27FF1-0D09-6464-B038-9EC8D1E5D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831" y="2998278"/>
            <a:ext cx="3917505" cy="1893762"/>
          </a:xfrm>
        </p:spPr>
        <p:txBody>
          <a:bodyPr anchor="t">
            <a:normAutofit/>
          </a:bodyPr>
          <a:lstStyle/>
          <a:p>
            <a:r>
              <a:rPr lang="tr-TR" sz="2000" dirty="0"/>
              <a:t>İlk </a:t>
            </a:r>
            <a:r>
              <a:rPr lang="tr-TR" sz="2000" dirty="0" err="1"/>
              <a:t>verisetinde</a:t>
            </a:r>
            <a:r>
              <a:rPr lang="tr-TR" sz="2000" dirty="0"/>
              <a:t> bu yaklaşım ile başarı artarken bu </a:t>
            </a:r>
            <a:r>
              <a:rPr lang="tr-TR" sz="2000" dirty="0" err="1"/>
              <a:t>verisetinde</a:t>
            </a:r>
            <a:r>
              <a:rPr lang="tr-TR" sz="2000" dirty="0"/>
              <a:t> düşüş gözlenmiştir</a:t>
            </a:r>
            <a:endParaRPr lang="en-US" sz="2000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56A5B6F7-D3E3-0F87-30D9-D69FE232F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12" y="623275"/>
            <a:ext cx="5166921" cy="560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7915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AC35A9E-C134-B399-6BF4-47A38006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F55E4E2-BFCF-E06A-C62C-A35C9B023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EF95279-F1CA-8342-A587-1E4BD91EF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703" y="0"/>
            <a:ext cx="71645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42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BB3B44F-7B92-F18C-FE57-545C43B7D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Kaynakça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51F7AB5-6395-52D3-BCF4-31722FAC1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388"/>
            <a:ext cx="10515600" cy="5284694"/>
          </a:xfrm>
        </p:spPr>
        <p:txBody>
          <a:bodyPr>
            <a:normAutofit fontScale="85000" lnSpcReduction="20000"/>
          </a:bodyPr>
          <a:lstStyle/>
          <a:p>
            <a:r>
              <a:rPr lang="tr-TR" dirty="0">
                <a:hlinkClick r:id="rId2"/>
              </a:rPr>
              <a:t>https://www.mdpi.com/1424-8220/19/14/3213</a:t>
            </a:r>
            <a:r>
              <a:rPr lang="tr-TR" dirty="0"/>
              <a:t> </a:t>
            </a:r>
          </a:p>
          <a:p>
            <a:r>
              <a:rPr lang="tr-TR" dirty="0">
                <a:hlinkClick r:id="rId3"/>
              </a:rPr>
              <a:t>https://www.nature.com/articles/s41746-021-00514-4</a:t>
            </a:r>
            <a:r>
              <a:rPr lang="tr-TR" dirty="0"/>
              <a:t> </a:t>
            </a:r>
          </a:p>
          <a:p>
            <a:endParaRPr lang="tr-TR" dirty="0"/>
          </a:p>
          <a:p>
            <a:r>
              <a:rPr lang="tr-TR" dirty="0">
                <a:hlinkClick r:id="rId4"/>
              </a:rPr>
              <a:t>https://arxiv.org/abs/2402.18296</a:t>
            </a:r>
            <a:r>
              <a:rPr lang="tr-TR" dirty="0"/>
              <a:t>  </a:t>
            </a:r>
          </a:p>
          <a:p>
            <a:r>
              <a:rPr lang="tr-TR" dirty="0">
                <a:hlinkClick r:id="rId5"/>
              </a:rPr>
              <a:t>https://www.researchgate.net/profile/Ali-M-Muslim-2/publication/344409407_Human_Activity_Recognition_Using_Smartphone_and_Smartwatch/links/5c5d449da6fdccb608afb55c/Human-Activity-Recognition-Using-Smartphone-and-Smartwatch.pdf</a:t>
            </a:r>
            <a:r>
              <a:rPr lang="tr-TR" dirty="0"/>
              <a:t> </a:t>
            </a:r>
          </a:p>
          <a:p>
            <a:r>
              <a:rPr lang="tr-TR" dirty="0">
                <a:hlinkClick r:id="rId6"/>
              </a:rPr>
              <a:t>https://ieeexplore.ieee.org/abstract/document/7439743</a:t>
            </a:r>
            <a:r>
              <a:rPr lang="tr-TR" dirty="0"/>
              <a:t>  </a:t>
            </a:r>
          </a:p>
          <a:p>
            <a:r>
              <a:rPr lang="tr-TR" dirty="0">
                <a:hlinkClick r:id="rId2"/>
              </a:rPr>
              <a:t>https://www.mdpi.com/1424-8220/19/14/3213</a:t>
            </a:r>
            <a:r>
              <a:rPr lang="tr-TR" dirty="0"/>
              <a:t>  </a:t>
            </a:r>
          </a:p>
          <a:p>
            <a:r>
              <a:rPr lang="tr-TR" dirty="0">
                <a:hlinkClick r:id="rId3"/>
              </a:rPr>
              <a:t>https://www.nature.com/articles/s41746-021-00514-4</a:t>
            </a:r>
            <a:r>
              <a:rPr lang="tr-TR" dirty="0"/>
              <a:t>  </a:t>
            </a:r>
          </a:p>
          <a:p>
            <a:endParaRPr lang="tr-TR" dirty="0"/>
          </a:p>
          <a:p>
            <a:r>
              <a:rPr lang="tr-TR" dirty="0">
                <a:hlinkClick r:id="rId7"/>
              </a:rPr>
              <a:t>https://link.springer.com/article/10.1007/s10015-017-0422-x</a:t>
            </a:r>
            <a:r>
              <a:rPr lang="tr-TR" dirty="0"/>
              <a:t> </a:t>
            </a:r>
          </a:p>
          <a:p>
            <a:r>
              <a:rPr lang="tr-TR" dirty="0">
                <a:hlinkClick r:id="rId8"/>
              </a:rPr>
              <a:t>https://www.sciencedirect.com/science/article/abs/pii/S2210670721002560</a:t>
            </a:r>
            <a:r>
              <a:rPr lang="tr-T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2339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Yeşi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1098</TotalTime>
  <Words>1207</Words>
  <Application>Microsoft Office PowerPoint</Application>
  <PresentationFormat>Geniş ekran</PresentationFormat>
  <Paragraphs>227</Paragraphs>
  <Slides>28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28</vt:i4>
      </vt:variant>
    </vt:vector>
  </HeadingPairs>
  <TitlesOfParts>
    <vt:vector size="35" baseType="lpstr">
      <vt:lpstr>Meiryo</vt:lpstr>
      <vt:lpstr>Aptos</vt:lpstr>
      <vt:lpstr>Aptos Display</vt:lpstr>
      <vt:lpstr>Arial</vt:lpstr>
      <vt:lpstr>Calibri</vt:lpstr>
      <vt:lpstr>Tahoma</vt:lpstr>
      <vt:lpstr>Office Teması</vt:lpstr>
      <vt:lpstr>Mobil Sensör Verileriyle Fiziksel Aktivite Tanıma</vt:lpstr>
      <vt:lpstr>TANIM</vt:lpstr>
      <vt:lpstr>Veri setleri</vt:lpstr>
      <vt:lpstr>Literatür taraması</vt:lpstr>
      <vt:lpstr>Literatür taraması</vt:lpstr>
      <vt:lpstr>YÖNTEM 1</vt:lpstr>
      <vt:lpstr>YÖNTEM 1 SONUÇLARI</vt:lpstr>
      <vt:lpstr>YÖNTEM 1 SONUÇLARI</vt:lpstr>
      <vt:lpstr>PowerPoint Sunusu</vt:lpstr>
      <vt:lpstr>PCA İLE SONUÇLAR</vt:lpstr>
      <vt:lpstr>HP OPTİMİZASYONU</vt:lpstr>
      <vt:lpstr>HP OPTİMİZASYONU</vt:lpstr>
      <vt:lpstr>PowerPoint Sunusu</vt:lpstr>
      <vt:lpstr>Kuhar veriseti için sonuçlar</vt:lpstr>
      <vt:lpstr>Kuhar veriseti için sonuçlar</vt:lpstr>
      <vt:lpstr>PowerPoint Sunusu</vt:lpstr>
      <vt:lpstr>PowerPoint Sunusu</vt:lpstr>
      <vt:lpstr>HP OPTİMİZASYONU</vt:lpstr>
      <vt:lpstr>HP OPTİMİZASYONU</vt:lpstr>
      <vt:lpstr>YÖNTEM 2</vt:lpstr>
      <vt:lpstr>YÖNTEM 2 SONUÇLARI</vt:lpstr>
      <vt:lpstr>Wisdm veriseti için</vt:lpstr>
      <vt:lpstr>RNN + FEATURE SELECTİON</vt:lpstr>
      <vt:lpstr>KUHAR VERİ SETİ İÇİN </vt:lpstr>
      <vt:lpstr>PowerPoint Sunusu</vt:lpstr>
      <vt:lpstr>RNN + FEATURE SELECTİON</vt:lpstr>
      <vt:lpstr>PowerPoint Sunusu</vt:lpstr>
      <vt:lpstr>Kaynakça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Aylin Şahin</dc:creator>
  <cp:lastModifiedBy>Aylin Şahin</cp:lastModifiedBy>
  <cp:revision>16</cp:revision>
  <dcterms:created xsi:type="dcterms:W3CDTF">2025-07-24T12:31:39Z</dcterms:created>
  <dcterms:modified xsi:type="dcterms:W3CDTF">2025-07-28T20:09:27Z</dcterms:modified>
</cp:coreProperties>
</file>